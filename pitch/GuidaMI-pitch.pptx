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GuidaMI, la guida per te. Dentro c'è Guido, l'assistente del Comune di Milano, per tutti: chi arriva a Milano, visitatori, studenti, nuovi residenti, e le aziende che cercano talenti. Guido capisce cosa ti serve, legge le fonti ufficiali al posto tuo, ti dice i passi nell'ordine giusto con l'ufficio vicino a te e ti compila i moduli.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Nour arriva a Milano per studiare. Per sapere cosa fare deve cercare tra cinque siti diversi, metà in italiano: YesMilano, il Comune, ATM, l'Agenzia delle Entrate, la Questura. Ognuno racconta un pezzo e nessuno le dice cosa fare lei, adesso. Sbaglia l'ordine: senza codice fiscale niente contratto, senza contratto niente residenza, senza residenza niente medico. Si sente un'estranea. Solo il 16% degli studenti in mobilità si sente davvero integrato, e quattro laureati internazionali del Politecnico su dieci lasciano l'Italia entro un anno.
GuidaMI è un modo nuovo, più semplice e più giocoso, di usare YesMilano e i servizi del Comune.
Fonti: ESNsurvey 2021; Politecnico di Milano, indagine occupazionale 2025; Assolombarda, rapporto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senza audio: parte con un clic. Lasciamo parlare l'app.
File: guidami-demo.mp4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Nour apre GuidaMI dal link nell'email di benvenuto del Comune. Guido la saluta in italiano e le dice subito che è un assistente IA. Lei risponde in inglese e Guido passa all'inglese; la sua scheda si riempie mentre parla.
Il suo piano è personalizzato su quello che chiede, per sistemare le carte e integrarsi in città: codice fiscale, cercare casa senza truffe, contratto registrato, residenza entro 20 giorni, TARI. Ogni passo dice cosa portare, dove andare e la scadenza; l'ufficio arriva dagli open data del Comune.
Scatta il passaporto. I campi compaiono sullo schermo, lei li controlla e li corregge. Il modulo del codice fiscale, la dichiarazione di residenza e la TARI escono compilati in PDF. Lei li 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il suo consenso la Talent card di Nour mostra competenze, italiano verificato e impegno nella community, e lei la cura nel tempo. Un'azienda scrive «junior designer, italiano B1, da marzo» e trova Nour prima che parta. Alla laurea, il permesso da studio a lavoro è già precompilato. Così Nour resta a Milano.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Guido lavora solo su fonti ufficiali. Le 66 pagine YesMilano e Study &amp; Work servono a costruire ogni piano e sono citate passo per passo. Le 585 schede servizi di comune.milano.it danno canali, documenti e scadenze come scritti sulla pagina. Gli open data del Comune, dalle sedi dell'anagrafe alle fermate della metro, dicono dove andare e vicino a cosa. I moduli sono quelli ufficiali di Agenzia delle Entrate, Ministero dell'Interno e Comune di Milano.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volta che Nour lo usa, Guido conversa nella sua lingua, compila la scheda mentre lei parla, giudica le prove d'italiano, decide quali guide leggere e in che ordine mettere i passi, legge il passaporto e prepara i moduli. Le decisioni restano a lei: conferma il piano, corregge i dati, firma i moduli. Niente viene inviato al posto suo.
Tutto questo è coerente con il Manifesto IA del Comune di Milano: un caffè con un milanese, la fonte di ogni passo, voce o tocco nella sua lingua, i dati sul telefono, la firma di Nour. Per l'AI Act è assistenza ai cittadini a rischio limitato, e per ogni dubbio c'è una persona allo 020202.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Comune basta un link nell'email di benvenuto e sulle pagine studenti di YesMilano. Le guide e i dati restano del Comune: Guido li legge e li porta alla persona giusta, nel momento in cui servono. Per fare di più servono tre cose: SPID e i dati anagrafici via PDND, così i moduli si compilano senza foto; un calendario unico degli eventi di Comune, università e aziende; il consenso delle persone per farsi trovare dalle aziende.
Nour arriva senza sapere da dove cominciare. Un anno dopo parla un po' di italiano, ha un contratto in regola e un lavoro a Milano. Resta.
Il riquadro «QR app» è un segnaposto per il QR del link dal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3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65176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×1 · PITCH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indent="0" marL="0">
              <a:buNone/>
            </a:pPr>
            <a:r>
              <a:rPr lang="en-US" sz="56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la guida per te.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Guido</a:t>
            </a:r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l'assistente del Comune di Milano, per tutti.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PER CHI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arriva a Milano: visitatori, studenti, nuovi residenti. E le aziende che cercano talenti.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3AC6F4"/>
          </a:solidFill>
          <a:ln>
            <a:solidFill>
              <a:srgbClr val="3AC6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Visitatori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09928" y="420624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AC6F4"/>
          </a:solidFill>
          <a:ln>
            <a:solidFill>
              <a:srgbClr val="3AC6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Studenti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79776" y="4206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3AC6F4"/>
          </a:solidFill>
          <a:ln>
            <a:solidFill>
              <a:srgbClr val="3AC6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Nuovi residenti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61104" y="42062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D703D"/>
          </a:solidFill>
          <a:ln>
            <a:solidFill>
              <a:srgbClr val="ED7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Aziende</a:t>
            </a:r>
            <a:endParaRPr lang="en-US" sz="1000" dirty="0"/>
          </a:p>
        </p:txBody>
      </p:sp>
      <p:pic>
        <p:nvPicPr>
          <p:cNvPr id="15" name="Image 1" descr="/home/thomas/milano-evolution/pitch/assets/app-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36" y="731520"/>
            <a:ext cx="1969248" cy="4160520"/>
          </a:xfrm>
          <a:prstGeom prst="rect">
            <a:avLst/>
          </a:prstGeom>
          <a:effectLst>
            <a:outerShdw sx="100000" sy="100000" kx="0" ky="0" algn="bl" rotWithShape="0" blurRad="279400" dist="76200" dir="54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"/>
            <a:ext cx="2329891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×1 · PITCH · IL PROBLEMA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4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sapere cosa fare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 cercare tra 5 siti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diversi, metà in italiano.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Chi arriva a Milano si sente estraneo.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4937760" cy="658368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GuidaMI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un modo nuovo, più semplice e più giocoso, di usare YesMilano e i servizi del Comune.</a:t>
            </a:r>
            <a:endParaRPr lang="en-US" sz="1150" dirty="0"/>
          </a:p>
        </p:txBody>
      </p:sp>
      <p:pic>
        <p:nvPicPr>
          <p:cNvPr id="8" name="Image 1" descr="/home/thomas/milano-evolution/pitch/assets/site-yesmilano-rents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749808"/>
            <a:ext cx="3108960" cy="1943100"/>
          </a:xfrm>
          <a:prstGeom prst="rect">
            <a:avLst/>
          </a:prstGeom>
          <a:effectLst>
            <a:outerShdw sx="100000" sy="100000" kx="0" ky="0" algn="bl" rotWithShape="0" blurRad="279400" dist="76200" dir="5400000">
              <a:srgbClr val="000000">
                <a:alpha val="20000"/>
              </a:srgbClr>
            </a:outerShdw>
          </a:effectLst>
        </p:spPr>
      </p:pic>
      <p:pic>
        <p:nvPicPr>
          <p:cNvPr id="9" name="Image 2" descr="/home/thomas/milano-evolution/pitch/assets/site-comune-page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108960" cy="1943100"/>
          </a:xfrm>
          <a:prstGeom prst="rect">
            <a:avLst/>
          </a:prstGeom>
          <a:effectLst>
            <a:outerShdw sx="100000" sy="100000" kx="0" ky="0" algn="bl" rotWithShape="0" blurRad="279400" dist="76200" dir="5400000">
              <a:srgbClr val="000000">
                <a:alpha val="20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5623560" y="2487168"/>
            <a:ext cx="1005840" cy="237744"/>
          </a:xfrm>
          <a:prstGeom prst="roundRect">
            <a:avLst>
              <a:gd name="adj" fmla="val 69231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yesmilano.it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217920" y="3154680"/>
            <a:ext cx="1234440" cy="237744"/>
          </a:xfrm>
          <a:prstGeom prst="roundRect">
            <a:avLst>
              <a:gd name="adj" fmla="val 69231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comune.milano.it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48640" y="3566160"/>
            <a:ext cx="25146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36393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16%</a:t>
            </a:r>
            <a:endParaRPr lang="en-US" sz="4400" dirty="0"/>
          </a:p>
        </p:txBody>
      </p:sp>
      <p:sp>
        <p:nvSpPr>
          <p:cNvPr id="14" name="Text 9"/>
          <p:cNvSpPr/>
          <p:nvPr/>
        </p:nvSpPr>
        <p:spPr>
          <a:xfrm>
            <a:off x="548640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degli studenti in mobilità si sente integrato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48640" y="4700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430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ESNsurvey 2021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291840" y="3566160"/>
            <a:ext cx="25146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91840" y="36393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39%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3291840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 laureati internazionali Polimi se ne va entro un anno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91840" y="4700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430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Politecnico di Milano 2025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035040" y="3566160"/>
            <a:ext cx="25146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35040" y="36393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45,6%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6035040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 profili cercati dalle imprese è difficile da trovare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035040" y="4700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430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Assolombarda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"/>
            <a:ext cx="2498141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×1 · PRODUCT AND EXECUTION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4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Parla con Guido, e le carte si sistemano.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5706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Arriva a Milano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 il link nell'email di benvenuto</a:t>
            </a:r>
            <a:endParaRPr lang="en-US" sz="1050" dirty="0"/>
          </a:p>
        </p:txBody>
      </p:sp>
      <p:pic>
        <p:nvPicPr>
          <p:cNvPr id="7" name="Image 1" descr="/home/thomas/milano-evolution/pitch/assets/app-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1471526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92438" y="1325880"/>
            <a:ext cx="15706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Il suo piano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Personalizzato su quello che chiede, con l'ufficio giusto</a:t>
            </a:r>
            <a:endParaRPr lang="en-US" sz="1050" dirty="0"/>
          </a:p>
        </p:txBody>
      </p:sp>
      <p:pic>
        <p:nvPicPr>
          <p:cNvPr id="9" name="Image 2" descr="/home/thomas/milano-evolution/pitch/assets/app-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438" y="1965960"/>
            <a:ext cx="1471526" cy="3108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36237" y="1325880"/>
            <a:ext cx="15706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Foto del passaporto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Guido lo legge, niente viene salvato</a:t>
            </a:r>
            <a:endParaRPr lang="en-US" sz="1050" dirty="0"/>
          </a:p>
        </p:txBody>
      </p:sp>
      <p:pic>
        <p:nvPicPr>
          <p:cNvPr id="11" name="Image 3" descr="/home/thomas/milano-evolution/pitch/assets/app-passport-scan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237" y="1965960"/>
            <a:ext cx="1471526" cy="31089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0035" y="1325880"/>
            <a:ext cx="15706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 campi compilati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 li controlla e li corregge</a:t>
            </a:r>
            <a:endParaRPr lang="en-US" sz="1050" dirty="0"/>
          </a:p>
        </p:txBody>
      </p:sp>
      <p:pic>
        <p:nvPicPr>
          <p:cNvPr id="13" name="Image 4" descr="/home/thomas/milano-evolution/pitch/assets/app-passport-fiel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35" y="1965960"/>
            <a:ext cx="1471526" cy="31089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23834" y="1325880"/>
            <a:ext cx="15706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Moduli pronti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PDF, da firmare</a:t>
            </a:r>
            <a:endParaRPr lang="en-US" sz="1050" dirty="0"/>
          </a:p>
        </p:txBody>
      </p:sp>
      <p:pic>
        <p:nvPicPr>
          <p:cNvPr id="15" name="Image 5" descr="/home/thomas/milano-evolution/pitch/assets/app-form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834" y="1965960"/>
            <a:ext cx="1471526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"/>
            <a:ext cx="1909267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×2 · LONG TERM 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4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Studente e azienda.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931920" cy="64008"/>
          </a:xfrm>
          <a:prstGeom prst="rect">
            <a:avLst/>
          </a:prstGeom>
          <a:solidFill>
            <a:srgbClr val="3AC6F4"/>
          </a:solidFill>
          <a:ln w="12700">
            <a:solidFill>
              <a:srgbClr val="3AC6F4"/>
            </a:solidFill>
            <a:prstDash val="solid"/>
          </a:ln>
        </p:spPr>
      </p:sp>
      <p:pic>
        <p:nvPicPr>
          <p:cNvPr id="7" name="Image 1" descr="/home/thomas/milano-evolution/pitch/assets/app-concept-talent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623007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00247" y="1691640"/>
            <a:ext cx="20803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LATO STUDENTE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2400247" y="2011680"/>
            <a:ext cx="20803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Nour carica la sua Talent card e la cura: competenze, italiano verificato, impegno nella community.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1417320"/>
            <a:ext cx="3931920" cy="64008"/>
          </a:xfrm>
          <a:prstGeom prst="rect">
            <a:avLst/>
          </a:prstGeom>
          <a:solidFill>
            <a:srgbClr val="ED703D"/>
          </a:solidFill>
          <a:ln w="12700">
            <a:solidFill>
              <a:srgbClr val="ED703D"/>
            </a:solidFill>
            <a:prstDash val="solid"/>
          </a:ln>
        </p:spPr>
      </p:sp>
      <p:pic>
        <p:nvPicPr>
          <p:cNvPr id="11" name="Image 2" descr="/home/thomas/milano-evolution/pitch/assets/app-concept-talent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45920"/>
            <a:ext cx="1623007" cy="3429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15047" y="1691640"/>
            <a:ext cx="20803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LATO AZIENDA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515047" y="2011680"/>
            <a:ext cx="20803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L'azienda vede la Talent card della persona, solo con il suo consenso, e la trova prima della laurea.</a:t>
            </a:r>
            <a:endParaRPr lang="en-US" sz="1200" dirty="0"/>
          </a:p>
        </p:txBody>
      </p:sp>
      <p:pic>
        <p:nvPicPr>
          <p:cNvPr id="14" name="Image 3" descr="/home/thomas/milano-evolution/web/public/icons3d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931920"/>
            <a:ext cx="777240" cy="777240"/>
          </a:xfrm>
          <a:prstGeom prst="rect">
            <a:avLst/>
          </a:prstGeom>
        </p:spPr>
      </p:pic>
      <p:pic>
        <p:nvPicPr>
          <p:cNvPr id="15" name="Image 4" descr="/home/thomas/milano-evolution/web/public/icons3d/brief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93192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"/>
            <a:ext cx="2498141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×1 · CITY DATA AND SOURCES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4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Fonti e dati del Comune.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41732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2704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66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YesMilano e Study &amp; Work, per ogni piano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48840" y="1463040"/>
            <a:ext cx="141732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8840" y="152704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585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214884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schede servizi di comune.milano.it, per regole e scadenze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49040" y="1463040"/>
            <a:ext cx="141732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152704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74904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open data, per dire dove andare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2880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GLI 8 DATASET DEL COMUNE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172968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ds549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sedi dell'anagrafe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926080" y="3172968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ds1299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municipi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3520440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ds94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sedi universitarie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26080" y="3520440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ds550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patronati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3867912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ds551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scuole di italiano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926080" y="3867912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ds1303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servizio sociale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4215384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ds41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biblioteche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926080" y="4215384"/>
            <a:ext cx="2240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703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ds535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fermate della metro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86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Moduli ufficiali: Agenzia delle Entrate, Ministero dell'Interno, Comune di Milano. Notizie: comunicati del Comune ed eventi YesMilano.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40680" y="1463040"/>
            <a:ext cx="3154680" cy="3291840"/>
          </a:xfrm>
          <a:prstGeom prst="rect">
            <a:avLst/>
          </a:prstGeom>
          <a:solidFill>
            <a:srgbClr val="3AC6F4"/>
          </a:solidFill>
          <a:ln w="12700">
            <a:solidFill>
              <a:srgbClr val="3AC6F4"/>
            </a:solidFill>
            <a:prstDash val="solid"/>
          </a:ln>
        </p:spPr>
      </p:sp>
      <p:pic>
        <p:nvPicPr>
          <p:cNvPr id="26" name="Image 1" descr="/home/thomas/milano-evolution/pitch/assets/app-plan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91840" cy="1219200"/>
          </a:xfrm>
          <a:prstGeom prst="rect">
            <a:avLst/>
          </a:prstGeom>
          <a:effectLst>
            <a:outerShdw sx="100000" sy="100000" kx="0" ky="0" algn="bl" rotWithShape="0" blurRad="279400" dist="76200" dir="5400000">
              <a:srgbClr val="000000">
                <a:alpha val="20000"/>
              </a:srgbClr>
            </a:outerShdw>
          </a:effectLst>
        </p:spPr>
      </p:pic>
      <p:sp>
        <p:nvSpPr>
          <p:cNvPr id="27" name="Text 23"/>
          <p:cNvSpPr/>
          <p:nvPr/>
        </p:nvSpPr>
        <p:spPr>
          <a:xfrm>
            <a:off x="5623560" y="3886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Dal piano di Nour: il passo, l'ufficio, la fonte.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×2 · AI AT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4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Coerente con il Manifesto IA</a:t>
            </a:r>
            <a:endParaRPr lang="en-US" sz="2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del Comune di Milano.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7" name="Image 1" descr="/home/thomas/milano-evolution/web/public/icons3d/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658368" cy="658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95681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Umanesimo digitale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94944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Guido porta Nour a un caffè con un milanese, con tre frasi pronte.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91840" y="1828800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11" name="Image 2" descr="/home/thomas/milano-evolution/web/public/icons3d/help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938528"/>
            <a:ext cx="658368" cy="65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60520" y="195681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Trasparenza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38144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Nour sa che parla con Guido, un assistente IA. Ogni passo cita la sua fonte.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35040" y="1828800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15" name="Image 3" descr="/home/thomas/milano-evolution/web/public/icons3d/ital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938528"/>
            <a:ext cx="658368" cy="658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195681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Inclusività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181344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Voce o tocco, la sua lingua, l'italiano un passo alla volta, contro l'«AI divide».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48640" y="3401568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19" name="Image 4" descr="/home/thomas/milano-evolution/web/public/icons3d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11296"/>
            <a:ext cx="658368" cy="6583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Protezione dei dati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94944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dati restano sul telefono, il passaporto non viene salvato.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291840" y="3401568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23" name="Image 5" descr="/home/thomas/milano-evolution/web/public/icons3d/fo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511296"/>
            <a:ext cx="658368" cy="6583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6052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La persona decide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438144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Guido prepara. Nour conferma il piano, corregge i dati e firma i moduli.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035040" y="3401568"/>
            <a:ext cx="2560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0"/>
            </a:solidFill>
            <a:prstDash val="solid"/>
          </a:ln>
        </p:spPr>
      </p:sp>
      <p:pic>
        <p:nvPicPr>
          <p:cNvPr id="27" name="Image 6" descr="/home/thomas/milano-evolution/web/public/icons3d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3511296"/>
            <a:ext cx="658368" cy="6583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0372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AI Act: rischio limitato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181344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Informazione chiara. Per ogni dubbio, una persona: 020202.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56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</a:t>
            </a:r>
            <a:pPr algn="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</a:t>
            </a:r>
            <a:endParaRPr lang="en-US" sz="1150" dirty="0"/>
          </a:p>
        </p:txBody>
      </p:sp>
      <p:pic>
        <p:nvPicPr>
          <p:cNvPr id="3" name="Image 0" descr="/home/thomas/milano-evolution/design/logo/azzurro/ico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46888"/>
            <a:ext cx="29260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3AC6F4"/>
          </a:solidFill>
          <a:ln w="12700">
            <a:solidFill>
              <a:srgbClr val="3AC6F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65176"/>
            <a:ext cx="1909267" cy="256032"/>
          </a:xfrm>
          <a:prstGeom prst="roundRect">
            <a:avLst>
              <a:gd name="adj" fmla="val 50000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×2 · DAY-ONE IMPACT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Domani basta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un link.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IL LINK STA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nell'email di benvenuto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798064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sulle pagine studenti di YesMilano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12121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48640" y="3429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QR app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2880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Provala ora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inquadra il QR col telefono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868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B6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AVVISI SULLE SCADENZE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37760" y="1188720"/>
            <a:ext cx="3657600" cy="0"/>
          </a:xfrm>
          <a:prstGeom prst="line">
            <a:avLst/>
          </a:prstGeom>
          <a:noFill/>
          <a:ln w="9525">
            <a:solidFill>
              <a:srgbClr val="E6E6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12252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Permesso di soggiorno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entro 8 giorni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1572768"/>
            <a:ext cx="3657600" cy="0"/>
          </a:xfrm>
          <a:prstGeom prst="line">
            <a:avLst/>
          </a:prstGeom>
          <a:noFill/>
          <a:ln w="9525">
            <a:solidFill>
              <a:srgbClr val="E6E6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1609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Residenza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49440" y="16093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entro 20 giorni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956816"/>
            <a:ext cx="3657600" cy="0"/>
          </a:xfrm>
          <a:prstGeom prst="line">
            <a:avLst/>
          </a:prstGeom>
          <a:noFill/>
          <a:ln w="9525">
            <a:solidFill>
              <a:srgbClr val="E6E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TARI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19933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entro 90 giorni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2606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B6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PER FARE DI PIÙ SERVONO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3776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349240" y="2926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SPID e dati anagrafici via PDND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49240" y="31821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così i moduli si compilano senza foto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35478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349240" y="3547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Un calendario unico degli eventi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349240" y="38039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 Comune, università e aziende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41696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703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349240" y="41696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Il consenso delle persone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49240" y="44256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farsi trovare dalle aziende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GuidaMI</dc:title>
  <dc:subject>PptxGenJS Presentation</dc:subject>
  <dc:creator>PptxGenJS</dc:creator>
  <cp:lastModifiedBy>PptxGenJS</cp:lastModifiedBy>
  <cp:revision>1</cp:revision>
  <dcterms:created xsi:type="dcterms:W3CDTF">2026-10-03T13:51:31Z</dcterms:created>
  <dcterms:modified xsi:type="dcterms:W3CDTF">2026-10-03T13:51:31Z</dcterms:modified>
</cp:coreProperties>
</file>