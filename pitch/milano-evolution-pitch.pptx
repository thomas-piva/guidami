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secondi]
Nour è appena arrivata a Milano per studiare. Per sapere cosa fare deve leggere decine di pagine su cinque siti, metà in italiano. Solo il 16% degli studenti in mobilità si sente pienamente integrato. Il 39% dei laureati internazionali del Politecnico lascia l'Italia entro un anno. Intanto le imprese milanesi faticano a trovare quasi un profilo su due.
Fonti (segnate ok in fonti-e-dati.md): ESNsurvey 2021 (16% completamente integrati, 55% in nessun gruppo); Politecnico di Milano, indagine occupazionale 2025 (61% dei laureati internazionali in Italia a un anno, quindi 39% fuori); Assolombarda, rapporto 2025 (45,6% dei profili difficili da reperire, STEM 67,5%).
Schermate reali di yesmilano.it/en/study/how-to/rents e comune.milano.it/argomenti/anagrafe catturate il 3/10/2026.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secondi, sopra il video o la demo dal vivo]
Con GuidaMI Nour non apre mai un portale. Tocca Inizia e la guida la saluta in italiano. Lei risponde in inglese e la guida passa all'inglese. Mentre parla, la scheda si riempie da sola: appena arrivata, extra UE, cosa le piace, cosa la preoccupa. Poi una prova d'italiano: lei dice 4, la guida verifica 2.
Nour dice: devo affittare una stanza. Claude legge dal vivo le guide ufficiali di YesMilano e le spunta una per una. Il piano arriva in ordine: codice fiscale, cercare casa senza truffe, contratto registrato, residenza entro 20 giorni, TARI entro 90. Ogni passo ha la sua fonte.
Sul codice fiscale tocca «Compilalo per me». Fotografa il passaporto, controlla i campi e scarica il modulo AA4/8 già compilato. Lo firma lei.
Inquadrate il QR e provatela.
Il riquadro «QR app» è un segnaposto: va sostituito con il QR del link dell'app dal vivo. Schermate dai mockup approvati (design/mockups/index.html); passaporto SPECIMEN con dati finti.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secondi]
Claude lavora a ogni uso. Nella voce c'è Claude Haiku: capisce cosa serve a Nour e compila la scheda mentre lei parla. Claude Sonnet legge 66 guide di YesMilano, 585 procedure del Comune e 8 dataset open data, costruisce il piano con le fonti e legge il passaporto per compilare i moduli. Le decisioni restano a Nour: conferma i dati, firma i moduli e può spegnere la voce quando vuole.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secondi]
Per accenderla il Comune non deve rifare nulla. Basta un link nell'email di benvenuto e sulle pagine di YesMilano, che restano la fonte. Per fare di più servirebbero tre cose: l'accesso con SPID o CIE e i dati ANPR via PDND, così la PA non chiede due volte quello che sa già; un feed unico degli eventi; il consenso della persona per farsi trovare dalle aziende.
Riferimenti: PDND e-service ANPR C020, C021, C030 (circolare DAIT 73/2023); once-only art. 50 CAD e Reg. UE 2018/1724. Nessun feed ufficiale degli eventi negli open data CKAN del Comune (fonti-e-dati.md, sezione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[riserva, solo se c'è tempo o per le domande]
Ecco dove va GuidaMI. Fascicolo con SPID: quando Nour ha lo SPID, il profilo passa al Fascicolo del Cittadino una volta sola. Parlami in italiano: un caffè di conversazione con milanesi volontari, sul modello catalano Voluntariat per la Llengua, oltre 170.000 coppie dal 2003. Talent card: con il suo consenso le aziende milanesi la trovano prima della laurea, contro la fuga dei talenti.
Da verificare: «oltre 170.000 coppie» (govern.cat 2014-2015, cpnl.cat 2024) non è nella tabella dei numeri segnati ok. Le tre anteprime nell'app sono schermate cablate con dati finti.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C000"/>
        </a:solidFill>
      </p:bgPr>
    </p:bg>
    <p:spTree>
      <p:nvGrpSpPr>
        <p:cNvPr id="1" name=""/>
        <p:cNvGrpSpPr/>
        <p:nvPr/>
      </p:nvGrpSpPr>
      <p:grpSpPr>
        <a:xfrm>
          <a:off x="0" y="0"/>
          <a:ext cx="0" cy="0"/>
          <a:chOff x="0" y="0"/>
          <a:chExt cx="0" cy="0"/>
        </a:xfrm>
      </p:grpSpPr>
      <p:sp>
        <p:nvSpPr>
          <p:cNvPr id="2" name="Text 0"/>
          <p:cNvSpPr/>
          <p:nvPr/>
        </p:nvSpPr>
        <p:spPr>
          <a:xfrm>
            <a:off x="548640" y="274320"/>
            <a:ext cx="4572000" cy="237744"/>
          </a:xfrm>
          <a:prstGeom prst="rect">
            <a:avLst/>
          </a:prstGeom>
          <a:noFill/>
          <a:ln/>
        </p:spPr>
        <p:txBody>
          <a:bodyPr wrap="square" lIns="0" tIns="0" rIns="0" bIns="0" rtlCol="0" anchor="ctr"/>
          <a:lstStyle/>
          <a:p>
            <a:pPr indent="0" marL="0">
              <a:buNone/>
            </a:pPr>
            <a:r>
              <a:rPr lang="en-US" sz="900" spc="200" kern="0" dirty="0">
                <a:solidFill>
                  <a:srgbClr val="212121"/>
                </a:solidFill>
                <a:latin typeface="Open Sans SemiBold" pitchFamily="34" charset="0"/>
                <a:ea typeface="Open Sans SemiBold" pitchFamily="34" charset="-122"/>
                <a:cs typeface="Open Sans SemiBold" pitchFamily="34" charset="-120"/>
              </a:rPr>
              <a:t>01  IL PROBLEMA</a:t>
            </a:r>
            <a:endParaRPr lang="en-US" sz="900" dirty="0"/>
          </a:p>
        </p:txBody>
      </p:sp>
      <p:sp>
        <p:nvSpPr>
          <p:cNvPr id="3" name="Text 1"/>
          <p:cNvSpPr/>
          <p:nvPr/>
        </p:nvSpPr>
        <p:spPr>
          <a:xfrm>
            <a:off x="5943600" y="256032"/>
            <a:ext cx="2331720" cy="274320"/>
          </a:xfrm>
          <a:prstGeom prst="rect">
            <a:avLst/>
          </a:prstGeom>
          <a:noFill/>
          <a:ln/>
        </p:spPr>
        <p:txBody>
          <a:bodyPr wrap="square" lIns="0" tIns="0" rIns="0" bIns="0" rtlCol="0" anchor="ctr"/>
          <a:lstStyle/>
          <a:p>
            <a:pPr algn="r" indent="0" marL="0">
              <a:buNone/>
            </a:pPr>
            <a:r>
              <a:rPr lang="en-US" sz="1150" b="1" dirty="0">
                <a:solidFill>
                  <a:srgbClr val="212121"/>
                </a:solidFill>
                <a:latin typeface="Open Sans" pitchFamily="34" charset="0"/>
                <a:ea typeface="Open Sans" pitchFamily="34" charset="-122"/>
                <a:cs typeface="Open Sans" pitchFamily="34" charset="-120"/>
              </a:rPr>
              <a:t>GuidaMI</a:t>
            </a:r>
            <a:endParaRPr lang="en-US" sz="1150" dirty="0"/>
          </a:p>
        </p:txBody>
      </p:sp>
      <p:pic>
        <p:nvPicPr>
          <p:cNvPr id="4" name="Image 0" descr="/home/thomas/milano-evolution/design/logo/azzurro/icon-A.png">    </p:cNvPr>
          <p:cNvPicPr>
            <a:picLocks noChangeAspect="1"/>
          </p:cNvPicPr>
          <p:nvPr/>
        </p:nvPicPr>
        <p:blipFill>
          <a:blip r:embed="rId1"/>
          <a:stretch>
            <a:fillRect/>
          </a:stretch>
        </p:blipFill>
        <p:spPr>
          <a:xfrm>
            <a:off x="8339328" y="246888"/>
            <a:ext cx="292608" cy="292608"/>
          </a:xfrm>
          <a:prstGeom prst="rect">
            <a:avLst/>
          </a:prstGeom>
        </p:spPr>
      </p:pic>
      <p:sp>
        <p:nvSpPr>
          <p:cNvPr id="5" name="Text 2"/>
          <p:cNvSpPr/>
          <p:nvPr/>
        </p:nvSpPr>
        <p:spPr>
          <a:xfrm>
            <a:off x="548640" y="731520"/>
            <a:ext cx="5120640" cy="2103120"/>
          </a:xfrm>
          <a:prstGeom prst="rect">
            <a:avLst/>
          </a:prstGeom>
          <a:noFill/>
          <a:ln/>
        </p:spPr>
        <p:txBody>
          <a:bodyPr wrap="square" lIns="0" tIns="0" rIns="0" bIns="0" rtlCol="0" anchor="t"/>
          <a:lstStyle/>
          <a:p>
            <a:pPr indent="0" marL="0">
              <a:lnSpc>
                <a:spcPct val="95000"/>
              </a:lnSpc>
              <a:buNone/>
            </a:pPr>
            <a:r>
              <a:rPr lang="en-US" sz="3800" b="1" dirty="0">
                <a:solidFill>
                  <a:srgbClr val="212121"/>
                </a:solidFill>
                <a:latin typeface="Open Sans" pitchFamily="34" charset="0"/>
                <a:ea typeface="Open Sans" pitchFamily="34" charset="-122"/>
                <a:cs typeface="Open Sans" pitchFamily="34" charset="-120"/>
              </a:rPr>
              <a:t>Decine di pagine</a:t>
            </a:r>
            <a:endParaRPr lang="en-US" sz="3800" dirty="0"/>
          </a:p>
          <a:p>
            <a:pPr indent="0" marL="0">
              <a:lnSpc>
                <a:spcPct val="95000"/>
              </a:lnSpc>
              <a:buNone/>
            </a:pPr>
            <a:r>
              <a:rPr lang="en-US" sz="3800" b="1" dirty="0">
                <a:solidFill>
                  <a:srgbClr val="212121"/>
                </a:solidFill>
                <a:latin typeface="Open Sans" pitchFamily="34" charset="0"/>
                <a:ea typeface="Open Sans" pitchFamily="34" charset="-122"/>
                <a:cs typeface="Open Sans" pitchFamily="34" charset="-120"/>
              </a:rPr>
              <a:t>su 5 siti, metà</a:t>
            </a:r>
            <a:endParaRPr lang="en-US" sz="3800" dirty="0"/>
          </a:p>
          <a:p>
            <a:pPr indent="0" marL="0">
              <a:lnSpc>
                <a:spcPct val="95000"/>
              </a:lnSpc>
              <a:buNone/>
            </a:pPr>
            <a:r>
              <a:rPr lang="en-US" sz="3800" b="1" dirty="0">
                <a:solidFill>
                  <a:srgbClr val="212121"/>
                </a:solidFill>
                <a:latin typeface="Open Sans" pitchFamily="34" charset="0"/>
                <a:ea typeface="Open Sans" pitchFamily="34" charset="-122"/>
                <a:cs typeface="Open Sans" pitchFamily="34" charset="-120"/>
              </a:rPr>
              <a:t>in italiano.</a:t>
            </a:r>
            <a:endParaRPr lang="en-US" sz="3800" dirty="0"/>
          </a:p>
        </p:txBody>
      </p:sp>
      <p:pic>
        <p:nvPicPr>
          <p:cNvPr id="6" name="Image 1" descr="/home/thomas/milano-evolution/pitch/assets/site-yesmilano-rents-r.png">    </p:cNvPr>
          <p:cNvPicPr>
            <a:picLocks noChangeAspect="1"/>
          </p:cNvPicPr>
          <p:nvPr/>
        </p:nvPicPr>
        <p:blipFill>
          <a:blip r:embed="rId2"/>
          <a:stretch>
            <a:fillRect/>
          </a:stretch>
        </p:blipFill>
        <p:spPr>
          <a:xfrm>
            <a:off x="5806440" y="749808"/>
            <a:ext cx="3108960" cy="1943100"/>
          </a:xfrm>
          <a:prstGeom prst="rect">
            <a:avLst/>
          </a:prstGeom>
          <a:effectLst>
            <a:outerShdw sx="100000" sy="100000" kx="0" ky="0" algn="bl" rotWithShape="0" blurRad="228600" dist="50800" dir="5400000">
              <a:srgbClr val="000000">
                <a:alpha val="18000"/>
              </a:srgbClr>
            </a:outerShdw>
          </a:effectLst>
        </p:spPr>
      </p:pic>
      <p:pic>
        <p:nvPicPr>
          <p:cNvPr id="7" name="Image 2" descr="/home/thomas/milano-evolution/pitch/assets/site-comune-page-r.png">    </p:cNvPr>
          <p:cNvPicPr>
            <a:picLocks noChangeAspect="1"/>
          </p:cNvPicPr>
          <p:nvPr/>
        </p:nvPicPr>
        <p:blipFill>
          <a:blip r:embed="rId3"/>
          <a:stretch>
            <a:fillRect/>
          </a:stretch>
        </p:blipFill>
        <p:spPr>
          <a:xfrm>
            <a:off x="6400800" y="1371600"/>
            <a:ext cx="3108960" cy="1943100"/>
          </a:xfrm>
          <a:prstGeom prst="rect">
            <a:avLst/>
          </a:prstGeom>
          <a:effectLst>
            <a:outerShdw sx="100000" sy="100000" kx="0" ky="0" algn="bl" rotWithShape="0" blurRad="228600" dist="50800" dir="5400000">
              <a:srgbClr val="000000">
                <a:alpha val="18000"/>
              </a:srgbClr>
            </a:outerShdw>
          </a:effectLst>
        </p:spPr>
      </p:pic>
      <p:sp>
        <p:nvSpPr>
          <p:cNvPr id="8" name="Text 3"/>
          <p:cNvSpPr/>
          <p:nvPr/>
        </p:nvSpPr>
        <p:spPr>
          <a:xfrm>
            <a:off x="5623560" y="2487168"/>
            <a:ext cx="1005840" cy="237744"/>
          </a:xfrm>
          <a:prstGeom prst="roundRect">
            <a:avLst>
              <a:gd name="adj" fmla="val 69231"/>
            </a:avLst>
          </a:prstGeom>
          <a:solidFill>
            <a:srgbClr val="212121"/>
          </a:solidFill>
          <a:ln>
            <a:solidFill>
              <a:srgbClr val="212121"/>
            </a:solidFill>
          </a:ln>
        </p:spPr>
        <p:txBody>
          <a:bodyPr wrap="square" lIns="0" tIns="0" rIns="0" bIns="0" rtlCol="0" anchor="ctr"/>
          <a:lstStyle/>
          <a:p>
            <a:pPr algn="ctr" indent="0" marL="0">
              <a:buNone/>
            </a:pPr>
            <a:r>
              <a:rPr lang="en-US" sz="800" dirty="0">
                <a:solidFill>
                  <a:srgbClr val="FFFFFF"/>
                </a:solidFill>
                <a:latin typeface="Open Sans SemiBold" pitchFamily="34" charset="0"/>
                <a:ea typeface="Open Sans SemiBold" pitchFamily="34" charset="-122"/>
                <a:cs typeface="Open Sans SemiBold" pitchFamily="34" charset="-120"/>
              </a:rPr>
              <a:t>yesmilano.it</a:t>
            </a:r>
            <a:endParaRPr lang="en-US" sz="800" dirty="0"/>
          </a:p>
        </p:txBody>
      </p:sp>
      <p:sp>
        <p:nvSpPr>
          <p:cNvPr id="9" name="Text 4"/>
          <p:cNvSpPr/>
          <p:nvPr/>
        </p:nvSpPr>
        <p:spPr>
          <a:xfrm>
            <a:off x="6217920" y="3154680"/>
            <a:ext cx="1234440" cy="237744"/>
          </a:xfrm>
          <a:prstGeom prst="roundRect">
            <a:avLst>
              <a:gd name="adj" fmla="val 69231"/>
            </a:avLst>
          </a:prstGeom>
          <a:solidFill>
            <a:srgbClr val="212121"/>
          </a:solidFill>
          <a:ln>
            <a:solidFill>
              <a:srgbClr val="212121"/>
            </a:solidFill>
          </a:ln>
        </p:spPr>
        <p:txBody>
          <a:bodyPr wrap="square" lIns="0" tIns="0" rIns="0" bIns="0" rtlCol="0" anchor="ctr"/>
          <a:lstStyle/>
          <a:p>
            <a:pPr algn="ctr" indent="0" marL="0">
              <a:buNone/>
            </a:pPr>
            <a:r>
              <a:rPr lang="en-US" sz="800" dirty="0">
                <a:solidFill>
                  <a:srgbClr val="FFFFFF"/>
                </a:solidFill>
                <a:latin typeface="Open Sans SemiBold" pitchFamily="34" charset="0"/>
                <a:ea typeface="Open Sans SemiBold" pitchFamily="34" charset="-122"/>
                <a:cs typeface="Open Sans SemiBold" pitchFamily="34" charset="-120"/>
              </a:rPr>
              <a:t>comune.milano.it</a:t>
            </a:r>
            <a:endParaRPr lang="en-US" sz="800" dirty="0"/>
          </a:p>
        </p:txBody>
      </p:sp>
      <p:sp>
        <p:nvSpPr>
          <p:cNvPr id="10" name="Shape 5"/>
          <p:cNvSpPr/>
          <p:nvPr/>
        </p:nvSpPr>
        <p:spPr>
          <a:xfrm>
            <a:off x="548640" y="3566160"/>
            <a:ext cx="2514600" cy="0"/>
          </a:xfrm>
          <a:prstGeom prst="line">
            <a:avLst/>
          </a:prstGeom>
          <a:noFill/>
          <a:ln w="15875">
            <a:solidFill>
              <a:srgbClr val="212121"/>
            </a:solidFill>
            <a:prstDash val="solid"/>
          </a:ln>
        </p:spPr>
      </p:sp>
      <p:sp>
        <p:nvSpPr>
          <p:cNvPr id="11" name="Text 6"/>
          <p:cNvSpPr/>
          <p:nvPr/>
        </p:nvSpPr>
        <p:spPr>
          <a:xfrm>
            <a:off x="548640" y="3639312"/>
            <a:ext cx="2514600" cy="658368"/>
          </a:xfrm>
          <a:prstGeom prst="rect">
            <a:avLst/>
          </a:prstGeom>
          <a:noFill/>
          <a:ln/>
        </p:spPr>
        <p:txBody>
          <a:bodyPr wrap="square" lIns="0" tIns="0" rIns="0" bIns="0" rtlCol="0" anchor="t"/>
          <a:lstStyle/>
          <a:p>
            <a:pPr indent="0" marL="0">
              <a:buNone/>
            </a:pPr>
            <a:r>
              <a:rPr lang="en-US" sz="4400" dirty="0">
                <a:solidFill>
                  <a:srgbClr val="212121"/>
                </a:solidFill>
                <a:latin typeface="Open Sans ExtraBold" pitchFamily="34" charset="0"/>
                <a:ea typeface="Open Sans ExtraBold" pitchFamily="34" charset="-122"/>
                <a:cs typeface="Open Sans ExtraBold" pitchFamily="34" charset="-120"/>
              </a:rPr>
              <a:t>16%</a:t>
            </a:r>
            <a:endParaRPr lang="en-US" sz="4400" dirty="0"/>
          </a:p>
        </p:txBody>
      </p:sp>
      <p:sp>
        <p:nvSpPr>
          <p:cNvPr id="12" name="Text 7"/>
          <p:cNvSpPr/>
          <p:nvPr/>
        </p:nvSpPr>
        <p:spPr>
          <a:xfrm>
            <a:off x="548640" y="4315968"/>
            <a:ext cx="2423160" cy="384048"/>
          </a:xfrm>
          <a:prstGeom prst="rect">
            <a:avLst/>
          </a:prstGeom>
          <a:noFill/>
          <a:ln/>
        </p:spPr>
        <p:txBody>
          <a:bodyPr wrap="square" lIns="0" tIns="0" rIns="0" bIns="0" rtlCol="0" anchor="t"/>
          <a:lstStyle/>
          <a:p>
            <a:pPr indent="0" marL="0">
              <a:buNone/>
            </a:pPr>
            <a:r>
              <a:rPr lang="en-US" sz="1000" dirty="0">
                <a:solidFill>
                  <a:srgbClr val="212121"/>
                </a:solidFill>
                <a:latin typeface="Open Sans" pitchFamily="34" charset="0"/>
                <a:ea typeface="Open Sans" pitchFamily="34" charset="-122"/>
                <a:cs typeface="Open Sans" pitchFamily="34" charset="-120"/>
              </a:rPr>
              <a:t>degli studenti in mobilità si sente integrato</a:t>
            </a:r>
            <a:endParaRPr lang="en-US" sz="1000" dirty="0"/>
          </a:p>
        </p:txBody>
      </p:sp>
      <p:sp>
        <p:nvSpPr>
          <p:cNvPr id="13" name="Text 8"/>
          <p:cNvSpPr/>
          <p:nvPr/>
        </p:nvSpPr>
        <p:spPr>
          <a:xfrm>
            <a:off x="548640" y="4700016"/>
            <a:ext cx="2423160" cy="182880"/>
          </a:xfrm>
          <a:prstGeom prst="rect">
            <a:avLst/>
          </a:prstGeom>
          <a:noFill/>
          <a:ln/>
        </p:spPr>
        <p:txBody>
          <a:bodyPr wrap="square" lIns="0" tIns="0" rIns="0" bIns="0" rtlCol="0" anchor="t"/>
          <a:lstStyle/>
          <a:p>
            <a:pPr indent="0" marL="0">
              <a:buNone/>
            </a:pPr>
            <a:r>
              <a:rPr lang="en-US" sz="750" dirty="0">
                <a:solidFill>
                  <a:srgbClr val="5A4300"/>
                </a:solidFill>
                <a:latin typeface="Open Sans SemiBold" pitchFamily="34" charset="0"/>
                <a:ea typeface="Open Sans SemiBold" pitchFamily="34" charset="-122"/>
                <a:cs typeface="Open Sans SemiBold" pitchFamily="34" charset="-120"/>
              </a:rPr>
              <a:t>ESNsurvey 2021</a:t>
            </a:r>
            <a:endParaRPr lang="en-US" sz="750" dirty="0"/>
          </a:p>
        </p:txBody>
      </p:sp>
      <p:sp>
        <p:nvSpPr>
          <p:cNvPr id="14" name="Shape 9"/>
          <p:cNvSpPr/>
          <p:nvPr/>
        </p:nvSpPr>
        <p:spPr>
          <a:xfrm>
            <a:off x="3291840" y="3566160"/>
            <a:ext cx="2514600" cy="0"/>
          </a:xfrm>
          <a:prstGeom prst="line">
            <a:avLst/>
          </a:prstGeom>
          <a:noFill/>
          <a:ln w="15875">
            <a:solidFill>
              <a:srgbClr val="212121"/>
            </a:solidFill>
            <a:prstDash val="solid"/>
          </a:ln>
        </p:spPr>
      </p:sp>
      <p:sp>
        <p:nvSpPr>
          <p:cNvPr id="15" name="Text 10"/>
          <p:cNvSpPr/>
          <p:nvPr/>
        </p:nvSpPr>
        <p:spPr>
          <a:xfrm>
            <a:off x="3291840" y="3639312"/>
            <a:ext cx="2514600" cy="658368"/>
          </a:xfrm>
          <a:prstGeom prst="rect">
            <a:avLst/>
          </a:prstGeom>
          <a:noFill/>
          <a:ln/>
        </p:spPr>
        <p:txBody>
          <a:bodyPr wrap="square" lIns="0" tIns="0" rIns="0" bIns="0" rtlCol="0" anchor="t"/>
          <a:lstStyle/>
          <a:p>
            <a:pPr indent="0" marL="0">
              <a:buNone/>
            </a:pPr>
            <a:r>
              <a:rPr lang="en-US" sz="4400" dirty="0">
                <a:solidFill>
                  <a:srgbClr val="212121"/>
                </a:solidFill>
                <a:latin typeface="Open Sans ExtraBold" pitchFamily="34" charset="0"/>
                <a:ea typeface="Open Sans ExtraBold" pitchFamily="34" charset="-122"/>
                <a:cs typeface="Open Sans ExtraBold" pitchFamily="34" charset="-120"/>
              </a:rPr>
              <a:t>39%</a:t>
            </a:r>
            <a:endParaRPr lang="en-US" sz="4400" dirty="0"/>
          </a:p>
        </p:txBody>
      </p:sp>
      <p:sp>
        <p:nvSpPr>
          <p:cNvPr id="16" name="Text 11"/>
          <p:cNvSpPr/>
          <p:nvPr/>
        </p:nvSpPr>
        <p:spPr>
          <a:xfrm>
            <a:off x="3291840" y="4315968"/>
            <a:ext cx="2423160" cy="384048"/>
          </a:xfrm>
          <a:prstGeom prst="rect">
            <a:avLst/>
          </a:prstGeom>
          <a:noFill/>
          <a:ln/>
        </p:spPr>
        <p:txBody>
          <a:bodyPr wrap="square" lIns="0" tIns="0" rIns="0" bIns="0" rtlCol="0" anchor="t"/>
          <a:lstStyle/>
          <a:p>
            <a:pPr indent="0" marL="0">
              <a:buNone/>
            </a:pPr>
            <a:r>
              <a:rPr lang="en-US" sz="1000" dirty="0">
                <a:solidFill>
                  <a:srgbClr val="212121"/>
                </a:solidFill>
                <a:latin typeface="Open Sans" pitchFamily="34" charset="0"/>
                <a:ea typeface="Open Sans" pitchFamily="34" charset="-122"/>
                <a:cs typeface="Open Sans" pitchFamily="34" charset="-120"/>
              </a:rPr>
              <a:t>dei laureati internazionali Polimi lascia l'Italia entro un anno</a:t>
            </a:r>
            <a:endParaRPr lang="en-US" sz="1000" dirty="0"/>
          </a:p>
        </p:txBody>
      </p:sp>
      <p:sp>
        <p:nvSpPr>
          <p:cNvPr id="17" name="Text 12"/>
          <p:cNvSpPr/>
          <p:nvPr/>
        </p:nvSpPr>
        <p:spPr>
          <a:xfrm>
            <a:off x="3291840" y="4700016"/>
            <a:ext cx="2423160" cy="182880"/>
          </a:xfrm>
          <a:prstGeom prst="rect">
            <a:avLst/>
          </a:prstGeom>
          <a:noFill/>
          <a:ln/>
        </p:spPr>
        <p:txBody>
          <a:bodyPr wrap="square" lIns="0" tIns="0" rIns="0" bIns="0" rtlCol="0" anchor="t"/>
          <a:lstStyle/>
          <a:p>
            <a:pPr indent="0" marL="0">
              <a:buNone/>
            </a:pPr>
            <a:r>
              <a:rPr lang="en-US" sz="750" dirty="0">
                <a:solidFill>
                  <a:srgbClr val="5A4300"/>
                </a:solidFill>
                <a:latin typeface="Open Sans SemiBold" pitchFamily="34" charset="0"/>
                <a:ea typeface="Open Sans SemiBold" pitchFamily="34" charset="-122"/>
                <a:cs typeface="Open Sans SemiBold" pitchFamily="34" charset="-120"/>
              </a:rPr>
              <a:t>Politecnico di Milano 2025</a:t>
            </a:r>
            <a:endParaRPr lang="en-US" sz="750" dirty="0"/>
          </a:p>
        </p:txBody>
      </p:sp>
      <p:sp>
        <p:nvSpPr>
          <p:cNvPr id="18" name="Shape 13"/>
          <p:cNvSpPr/>
          <p:nvPr/>
        </p:nvSpPr>
        <p:spPr>
          <a:xfrm>
            <a:off x="6035040" y="3566160"/>
            <a:ext cx="2514600" cy="0"/>
          </a:xfrm>
          <a:prstGeom prst="line">
            <a:avLst/>
          </a:prstGeom>
          <a:noFill/>
          <a:ln w="15875">
            <a:solidFill>
              <a:srgbClr val="212121"/>
            </a:solidFill>
            <a:prstDash val="solid"/>
          </a:ln>
        </p:spPr>
      </p:sp>
      <p:sp>
        <p:nvSpPr>
          <p:cNvPr id="19" name="Text 14"/>
          <p:cNvSpPr/>
          <p:nvPr/>
        </p:nvSpPr>
        <p:spPr>
          <a:xfrm>
            <a:off x="6035040" y="3639312"/>
            <a:ext cx="2514600" cy="658368"/>
          </a:xfrm>
          <a:prstGeom prst="rect">
            <a:avLst/>
          </a:prstGeom>
          <a:noFill/>
          <a:ln/>
        </p:spPr>
        <p:txBody>
          <a:bodyPr wrap="square" lIns="0" tIns="0" rIns="0" bIns="0" rtlCol="0" anchor="t"/>
          <a:lstStyle/>
          <a:p>
            <a:pPr indent="0" marL="0">
              <a:buNone/>
            </a:pPr>
            <a:r>
              <a:rPr lang="en-US" sz="4400" dirty="0">
                <a:solidFill>
                  <a:srgbClr val="212121"/>
                </a:solidFill>
                <a:latin typeface="Open Sans ExtraBold" pitchFamily="34" charset="0"/>
                <a:ea typeface="Open Sans ExtraBold" pitchFamily="34" charset="-122"/>
                <a:cs typeface="Open Sans ExtraBold" pitchFamily="34" charset="-120"/>
              </a:rPr>
              <a:t>45,6%</a:t>
            </a:r>
            <a:endParaRPr lang="en-US" sz="4400" dirty="0"/>
          </a:p>
        </p:txBody>
      </p:sp>
      <p:sp>
        <p:nvSpPr>
          <p:cNvPr id="20" name="Text 15"/>
          <p:cNvSpPr/>
          <p:nvPr/>
        </p:nvSpPr>
        <p:spPr>
          <a:xfrm>
            <a:off x="6035040" y="4315968"/>
            <a:ext cx="2423160" cy="384048"/>
          </a:xfrm>
          <a:prstGeom prst="rect">
            <a:avLst/>
          </a:prstGeom>
          <a:noFill/>
          <a:ln/>
        </p:spPr>
        <p:txBody>
          <a:bodyPr wrap="square" lIns="0" tIns="0" rIns="0" bIns="0" rtlCol="0" anchor="t"/>
          <a:lstStyle/>
          <a:p>
            <a:pPr indent="0" marL="0">
              <a:buNone/>
            </a:pPr>
            <a:r>
              <a:rPr lang="en-US" sz="1000" dirty="0">
                <a:solidFill>
                  <a:srgbClr val="212121"/>
                </a:solidFill>
                <a:latin typeface="Open Sans" pitchFamily="34" charset="0"/>
                <a:ea typeface="Open Sans" pitchFamily="34" charset="-122"/>
                <a:cs typeface="Open Sans" pitchFamily="34" charset="-120"/>
              </a:rPr>
              <a:t>dei profili cercati dalle imprese è difficile da trovare</a:t>
            </a:r>
            <a:endParaRPr lang="en-US" sz="1000" dirty="0"/>
          </a:p>
        </p:txBody>
      </p:sp>
      <p:sp>
        <p:nvSpPr>
          <p:cNvPr id="21" name="Text 16"/>
          <p:cNvSpPr/>
          <p:nvPr/>
        </p:nvSpPr>
        <p:spPr>
          <a:xfrm>
            <a:off x="6035040" y="4700016"/>
            <a:ext cx="2423160" cy="182880"/>
          </a:xfrm>
          <a:prstGeom prst="rect">
            <a:avLst/>
          </a:prstGeom>
          <a:noFill/>
          <a:ln/>
        </p:spPr>
        <p:txBody>
          <a:bodyPr wrap="square" lIns="0" tIns="0" rIns="0" bIns="0" rtlCol="0" anchor="t"/>
          <a:lstStyle/>
          <a:p>
            <a:pPr indent="0" marL="0">
              <a:buNone/>
            </a:pPr>
            <a:r>
              <a:rPr lang="en-US" sz="750" dirty="0">
                <a:solidFill>
                  <a:srgbClr val="5A4300"/>
                </a:solidFill>
                <a:latin typeface="Open Sans SemiBold" pitchFamily="34" charset="0"/>
                <a:ea typeface="Open Sans SemiBold" pitchFamily="34" charset="-122"/>
                <a:cs typeface="Open Sans SemiBold" pitchFamily="34" charset="-120"/>
              </a:rPr>
              <a:t>Assolombarda 2025</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7"/>
        </a:solidFill>
      </p:bgPr>
    </p:bg>
    <p:spTree>
      <p:nvGrpSpPr>
        <p:cNvPr id="1" name=""/>
        <p:cNvGrpSpPr/>
        <p:nvPr/>
      </p:nvGrpSpPr>
      <p:grpSpPr>
        <a:xfrm>
          <a:off x="0" y="0"/>
          <a:ext cx="0" cy="0"/>
          <a:chOff x="0" y="0"/>
          <a:chExt cx="0" cy="0"/>
        </a:xfrm>
      </p:grpSpPr>
      <p:sp>
        <p:nvSpPr>
          <p:cNvPr id="2" name="Text 0"/>
          <p:cNvSpPr/>
          <p:nvPr/>
        </p:nvSpPr>
        <p:spPr>
          <a:xfrm>
            <a:off x="548640" y="274320"/>
            <a:ext cx="4572000" cy="237744"/>
          </a:xfrm>
          <a:prstGeom prst="rect">
            <a:avLst/>
          </a:prstGeom>
          <a:noFill/>
          <a:ln/>
        </p:spPr>
        <p:txBody>
          <a:bodyPr wrap="square" lIns="0" tIns="0" rIns="0" bIns="0" rtlCol="0" anchor="ctr"/>
          <a:lstStyle/>
          <a:p>
            <a:pPr indent="0" marL="0">
              <a:buNone/>
            </a:pPr>
            <a:r>
              <a:rPr lang="en-US" sz="900" spc="200" kern="0" dirty="0">
                <a:solidFill>
                  <a:srgbClr val="212121"/>
                </a:solidFill>
                <a:latin typeface="Open Sans SemiBold" pitchFamily="34" charset="0"/>
                <a:ea typeface="Open Sans SemiBold" pitchFamily="34" charset="-122"/>
                <a:cs typeface="Open Sans SemiBold" pitchFamily="34" charset="-120"/>
              </a:rPr>
              <a:t>02  LA DEMO</a:t>
            </a:r>
            <a:endParaRPr lang="en-US" sz="900" dirty="0"/>
          </a:p>
        </p:txBody>
      </p:sp>
      <p:sp>
        <p:nvSpPr>
          <p:cNvPr id="3" name="Text 1"/>
          <p:cNvSpPr/>
          <p:nvPr/>
        </p:nvSpPr>
        <p:spPr>
          <a:xfrm>
            <a:off x="5943600" y="256032"/>
            <a:ext cx="2331720" cy="274320"/>
          </a:xfrm>
          <a:prstGeom prst="rect">
            <a:avLst/>
          </a:prstGeom>
          <a:noFill/>
          <a:ln/>
        </p:spPr>
        <p:txBody>
          <a:bodyPr wrap="square" lIns="0" tIns="0" rIns="0" bIns="0" rtlCol="0" anchor="ctr"/>
          <a:lstStyle/>
          <a:p>
            <a:pPr algn="r" indent="0" marL="0">
              <a:buNone/>
            </a:pPr>
            <a:r>
              <a:rPr lang="en-US" sz="1150" b="1" dirty="0">
                <a:solidFill>
                  <a:srgbClr val="212121"/>
                </a:solidFill>
                <a:latin typeface="Open Sans" pitchFamily="34" charset="0"/>
                <a:ea typeface="Open Sans" pitchFamily="34" charset="-122"/>
                <a:cs typeface="Open Sans" pitchFamily="34" charset="-120"/>
              </a:rPr>
              <a:t>GuidaMI</a:t>
            </a:r>
            <a:endParaRPr lang="en-US" sz="1150" dirty="0"/>
          </a:p>
        </p:txBody>
      </p:sp>
      <p:pic>
        <p:nvPicPr>
          <p:cNvPr id="4" name="Image 0" descr="/home/thomas/milano-evolution/design/logo/azzurro/icon-A.png">    </p:cNvPr>
          <p:cNvPicPr>
            <a:picLocks noChangeAspect="1"/>
          </p:cNvPicPr>
          <p:nvPr/>
        </p:nvPicPr>
        <p:blipFill>
          <a:blip r:embed="rId1"/>
          <a:stretch>
            <a:fillRect/>
          </a:stretch>
        </p:blipFill>
        <p:spPr>
          <a:xfrm>
            <a:off x="8339328" y="246888"/>
            <a:ext cx="292608" cy="292608"/>
          </a:xfrm>
          <a:prstGeom prst="rect">
            <a:avLst/>
          </a:prstGeom>
        </p:spPr>
      </p:pic>
      <p:sp>
        <p:nvSpPr>
          <p:cNvPr id="5" name="Text 2"/>
          <p:cNvSpPr/>
          <p:nvPr/>
        </p:nvSpPr>
        <p:spPr>
          <a:xfrm>
            <a:off x="548640" y="731520"/>
            <a:ext cx="6766560" cy="548640"/>
          </a:xfrm>
          <a:prstGeom prst="rect">
            <a:avLst/>
          </a:prstGeom>
          <a:noFill/>
          <a:ln/>
        </p:spPr>
        <p:txBody>
          <a:bodyPr wrap="square" lIns="0" tIns="0" rIns="0" bIns="0" rtlCol="0" anchor="t"/>
          <a:lstStyle/>
          <a:p>
            <a:pPr indent="0" marL="0">
              <a:lnSpc>
                <a:spcPct val="95000"/>
              </a:lnSpc>
              <a:buNone/>
            </a:pPr>
            <a:r>
              <a:rPr lang="en-US" sz="2800" dirty="0">
                <a:solidFill>
                  <a:srgbClr val="212121"/>
                </a:solidFill>
                <a:latin typeface="Open Sans ExtraBold" pitchFamily="34" charset="0"/>
                <a:ea typeface="Open Sans ExtraBold" pitchFamily="34" charset="-122"/>
                <a:cs typeface="Open Sans ExtraBold" pitchFamily="34" charset="-120"/>
              </a:rPr>
              <a:t>Nour non apre mai un portale.</a:t>
            </a:r>
            <a:endParaRPr lang="en-US" sz="2800" dirty="0"/>
          </a:p>
        </p:txBody>
      </p:sp>
      <p:sp>
        <p:nvSpPr>
          <p:cNvPr id="6" name="Shape 3"/>
          <p:cNvSpPr/>
          <p:nvPr/>
        </p:nvSpPr>
        <p:spPr>
          <a:xfrm>
            <a:off x="0" y="3246120"/>
            <a:ext cx="9144000" cy="1897380"/>
          </a:xfrm>
          <a:prstGeom prst="rect">
            <a:avLst/>
          </a:prstGeom>
          <a:solidFill>
            <a:srgbClr val="3AC6F4"/>
          </a:solidFill>
          <a:ln w="12700">
            <a:solidFill>
              <a:srgbClr val="3AC6F4"/>
            </a:solidFill>
            <a:prstDash val="solid"/>
          </a:ln>
        </p:spPr>
      </p:sp>
      <p:sp>
        <p:nvSpPr>
          <p:cNvPr id="7" name="Text 4"/>
          <p:cNvSpPr/>
          <p:nvPr/>
        </p:nvSpPr>
        <p:spPr>
          <a:xfrm>
            <a:off x="661429" y="1719072"/>
            <a:ext cx="1749546" cy="274320"/>
          </a:xfrm>
          <a:prstGeom prst="rect">
            <a:avLst/>
          </a:prstGeom>
          <a:noFill/>
          <a:ln/>
        </p:spPr>
        <p:txBody>
          <a:bodyPr wrap="square" lIns="0" tIns="0" rIns="0" bIns="0" rtlCol="0" anchor="ctr"/>
          <a:lstStyle/>
          <a:p>
            <a:pPr indent="0" marL="0">
              <a:buNone/>
            </a:pPr>
            <a:r>
              <a:rPr lang="en-US" sz="1100" dirty="0">
                <a:solidFill>
                  <a:srgbClr val="ED703D"/>
                </a:solidFill>
                <a:latin typeface="Open Sans ExtraBold" pitchFamily="34" charset="0"/>
                <a:ea typeface="Open Sans ExtraBold" pitchFamily="34" charset="-122"/>
                <a:cs typeface="Open Sans ExtraBold" pitchFamily="34" charset="-120"/>
              </a:rPr>
              <a:t>1  </a:t>
            </a:r>
            <a:pPr indent="0" marL="0">
              <a:buNone/>
            </a:pPr>
            <a:r>
              <a:rPr lang="en-US" sz="1100" dirty="0">
                <a:solidFill>
                  <a:srgbClr val="212121"/>
                </a:solidFill>
                <a:latin typeface="Open Sans SemiBold" pitchFamily="34" charset="0"/>
                <a:ea typeface="Open Sans SemiBold" pitchFamily="34" charset="-122"/>
                <a:cs typeface="Open Sans SemiBold" pitchFamily="34" charset="-120"/>
              </a:rPr>
              <a:t>Parla nella sua lingua</a:t>
            </a:r>
            <a:endParaRPr lang="en-US" sz="1100" dirty="0"/>
          </a:p>
        </p:txBody>
      </p:sp>
      <p:pic>
        <p:nvPicPr>
          <p:cNvPr id="8" name="Image 1" descr="/home/thomas/milano-evolution/pitch/assets/mock-01.png">    </p:cNvPr>
          <p:cNvPicPr>
            <a:picLocks noChangeAspect="1"/>
          </p:cNvPicPr>
          <p:nvPr/>
        </p:nvPicPr>
        <p:blipFill>
          <a:blip r:embed="rId2"/>
          <a:stretch>
            <a:fillRect/>
          </a:stretch>
        </p:blipFill>
        <p:spPr>
          <a:xfrm>
            <a:off x="661429" y="2103120"/>
            <a:ext cx="1749546" cy="3657600"/>
          </a:xfrm>
          <a:prstGeom prst="rect">
            <a:avLst/>
          </a:prstGeom>
        </p:spPr>
      </p:pic>
      <p:sp>
        <p:nvSpPr>
          <p:cNvPr id="9" name="Text 5"/>
          <p:cNvSpPr/>
          <p:nvPr/>
        </p:nvSpPr>
        <p:spPr>
          <a:xfrm>
            <a:off x="2685294" y="1719072"/>
            <a:ext cx="1749546" cy="274320"/>
          </a:xfrm>
          <a:prstGeom prst="rect">
            <a:avLst/>
          </a:prstGeom>
          <a:noFill/>
          <a:ln/>
        </p:spPr>
        <p:txBody>
          <a:bodyPr wrap="square" lIns="0" tIns="0" rIns="0" bIns="0" rtlCol="0" anchor="ctr"/>
          <a:lstStyle/>
          <a:p>
            <a:pPr indent="0" marL="0">
              <a:buNone/>
            </a:pPr>
            <a:r>
              <a:rPr lang="en-US" sz="1100" dirty="0">
                <a:solidFill>
                  <a:srgbClr val="ED703D"/>
                </a:solidFill>
                <a:latin typeface="Open Sans ExtraBold" pitchFamily="34" charset="0"/>
                <a:ea typeface="Open Sans ExtraBold" pitchFamily="34" charset="-122"/>
                <a:cs typeface="Open Sans ExtraBold" pitchFamily="34" charset="-120"/>
              </a:rPr>
              <a:t>2  </a:t>
            </a:r>
            <a:pPr indent="0" marL="0">
              <a:buNone/>
            </a:pPr>
            <a:r>
              <a:rPr lang="en-US" sz="1100" dirty="0">
                <a:solidFill>
                  <a:srgbClr val="212121"/>
                </a:solidFill>
                <a:latin typeface="Open Sans SemiBold" pitchFamily="34" charset="0"/>
                <a:ea typeface="Open Sans SemiBold" pitchFamily="34" charset="-122"/>
                <a:cs typeface="Open Sans SemiBold" pitchFamily="34" charset="-120"/>
              </a:rPr>
              <a:t>Il piano, con le fonti</a:t>
            </a:r>
            <a:endParaRPr lang="en-US" sz="1100" dirty="0"/>
          </a:p>
        </p:txBody>
      </p:sp>
      <p:pic>
        <p:nvPicPr>
          <p:cNvPr id="10" name="Image 2" descr="/home/thomas/milano-evolution/pitch/assets/mock-06.png">    </p:cNvPr>
          <p:cNvPicPr>
            <a:picLocks noChangeAspect="1"/>
          </p:cNvPicPr>
          <p:nvPr/>
        </p:nvPicPr>
        <p:blipFill>
          <a:blip r:embed="rId3"/>
          <a:stretch>
            <a:fillRect/>
          </a:stretch>
        </p:blipFill>
        <p:spPr>
          <a:xfrm>
            <a:off x="2685294" y="2103120"/>
            <a:ext cx="1749546" cy="3657600"/>
          </a:xfrm>
          <a:prstGeom prst="rect">
            <a:avLst/>
          </a:prstGeom>
        </p:spPr>
      </p:pic>
      <p:sp>
        <p:nvSpPr>
          <p:cNvPr id="11" name="Text 6"/>
          <p:cNvSpPr/>
          <p:nvPr/>
        </p:nvSpPr>
        <p:spPr>
          <a:xfrm>
            <a:off x="4709160" y="1719072"/>
            <a:ext cx="1749546" cy="274320"/>
          </a:xfrm>
          <a:prstGeom prst="rect">
            <a:avLst/>
          </a:prstGeom>
          <a:noFill/>
          <a:ln/>
        </p:spPr>
        <p:txBody>
          <a:bodyPr wrap="square" lIns="0" tIns="0" rIns="0" bIns="0" rtlCol="0" anchor="ctr"/>
          <a:lstStyle/>
          <a:p>
            <a:pPr indent="0" marL="0">
              <a:buNone/>
            </a:pPr>
            <a:r>
              <a:rPr lang="en-US" sz="1100" dirty="0">
                <a:solidFill>
                  <a:srgbClr val="ED703D"/>
                </a:solidFill>
                <a:latin typeface="Open Sans ExtraBold" pitchFamily="34" charset="0"/>
                <a:ea typeface="Open Sans ExtraBold" pitchFamily="34" charset="-122"/>
                <a:cs typeface="Open Sans ExtraBold" pitchFamily="34" charset="-120"/>
              </a:rPr>
              <a:t>3  </a:t>
            </a:r>
            <a:pPr indent="0" marL="0">
              <a:buNone/>
            </a:pPr>
            <a:r>
              <a:rPr lang="en-US" sz="1100" dirty="0">
                <a:solidFill>
                  <a:srgbClr val="212121"/>
                </a:solidFill>
                <a:latin typeface="Open Sans SemiBold" pitchFamily="34" charset="0"/>
                <a:ea typeface="Open Sans SemiBold" pitchFamily="34" charset="-122"/>
                <a:cs typeface="Open Sans SemiBold" pitchFamily="34" charset="-120"/>
              </a:rPr>
              <a:t>Legge il passaporto</a:t>
            </a:r>
            <a:endParaRPr lang="en-US" sz="1100" dirty="0"/>
          </a:p>
        </p:txBody>
      </p:sp>
      <p:pic>
        <p:nvPicPr>
          <p:cNvPr id="12" name="Image 3" descr="/home/thomas/milano-evolution/pitch/assets/mock-08.png">    </p:cNvPr>
          <p:cNvPicPr>
            <a:picLocks noChangeAspect="1"/>
          </p:cNvPicPr>
          <p:nvPr/>
        </p:nvPicPr>
        <p:blipFill>
          <a:blip r:embed="rId4"/>
          <a:stretch>
            <a:fillRect/>
          </a:stretch>
        </p:blipFill>
        <p:spPr>
          <a:xfrm>
            <a:off x="4709160" y="2103120"/>
            <a:ext cx="1749546" cy="3657600"/>
          </a:xfrm>
          <a:prstGeom prst="rect">
            <a:avLst/>
          </a:prstGeom>
        </p:spPr>
      </p:pic>
      <p:sp>
        <p:nvSpPr>
          <p:cNvPr id="13" name="Text 7"/>
          <p:cNvSpPr/>
          <p:nvPr/>
        </p:nvSpPr>
        <p:spPr>
          <a:xfrm>
            <a:off x="6733026" y="1719072"/>
            <a:ext cx="1749546" cy="274320"/>
          </a:xfrm>
          <a:prstGeom prst="rect">
            <a:avLst/>
          </a:prstGeom>
          <a:noFill/>
          <a:ln/>
        </p:spPr>
        <p:txBody>
          <a:bodyPr wrap="square" lIns="0" tIns="0" rIns="0" bIns="0" rtlCol="0" anchor="ctr"/>
          <a:lstStyle/>
          <a:p>
            <a:pPr indent="0" marL="0">
              <a:buNone/>
            </a:pPr>
            <a:r>
              <a:rPr lang="en-US" sz="1100" dirty="0">
                <a:solidFill>
                  <a:srgbClr val="ED703D"/>
                </a:solidFill>
                <a:latin typeface="Open Sans ExtraBold" pitchFamily="34" charset="0"/>
                <a:ea typeface="Open Sans ExtraBold" pitchFamily="34" charset="-122"/>
                <a:cs typeface="Open Sans ExtraBold" pitchFamily="34" charset="-120"/>
              </a:rPr>
              <a:t>4  </a:t>
            </a:r>
            <a:pPr indent="0" marL="0">
              <a:buNone/>
            </a:pPr>
            <a:r>
              <a:rPr lang="en-US" sz="1100" dirty="0">
                <a:solidFill>
                  <a:srgbClr val="212121"/>
                </a:solidFill>
                <a:latin typeface="Open Sans SemiBold" pitchFamily="34" charset="0"/>
                <a:ea typeface="Open Sans SemiBold" pitchFamily="34" charset="-122"/>
                <a:cs typeface="Open Sans SemiBold" pitchFamily="34" charset="-120"/>
              </a:rPr>
              <a:t>Moduli in PDF</a:t>
            </a:r>
            <a:endParaRPr lang="en-US" sz="1100" dirty="0"/>
          </a:p>
        </p:txBody>
      </p:sp>
      <p:pic>
        <p:nvPicPr>
          <p:cNvPr id="14" name="Image 4" descr="/home/thomas/milano-evolution/pitch/assets/mock-09.png">    </p:cNvPr>
          <p:cNvPicPr>
            <a:picLocks noChangeAspect="1"/>
          </p:cNvPicPr>
          <p:nvPr/>
        </p:nvPicPr>
        <p:blipFill>
          <a:blip r:embed="rId5"/>
          <a:stretch>
            <a:fillRect/>
          </a:stretch>
        </p:blipFill>
        <p:spPr>
          <a:xfrm>
            <a:off x="6733026" y="2103120"/>
            <a:ext cx="1749546" cy="3657600"/>
          </a:xfrm>
          <a:prstGeom prst="rect">
            <a:avLst/>
          </a:prstGeom>
        </p:spPr>
      </p:pic>
      <p:sp>
        <p:nvSpPr>
          <p:cNvPr id="15" name="Shape 8"/>
          <p:cNvSpPr/>
          <p:nvPr/>
        </p:nvSpPr>
        <p:spPr>
          <a:xfrm>
            <a:off x="7680960" y="621792"/>
            <a:ext cx="914400" cy="914400"/>
          </a:xfrm>
          <a:prstGeom prst="roundRect">
            <a:avLst>
              <a:gd name="adj" fmla="val 10000"/>
            </a:avLst>
          </a:prstGeom>
          <a:solidFill>
            <a:srgbClr val="FFFFFF"/>
          </a:solidFill>
          <a:ln w="15875">
            <a:solidFill>
              <a:srgbClr val="212121"/>
            </a:solidFill>
            <a:prstDash val="dash"/>
          </a:ln>
        </p:spPr>
      </p:sp>
      <p:sp>
        <p:nvSpPr>
          <p:cNvPr id="16" name="Text 9"/>
          <p:cNvSpPr/>
          <p:nvPr/>
        </p:nvSpPr>
        <p:spPr>
          <a:xfrm>
            <a:off x="7680960" y="621792"/>
            <a:ext cx="914400" cy="914400"/>
          </a:xfrm>
          <a:prstGeom prst="rect">
            <a:avLst/>
          </a:prstGeom>
          <a:noFill/>
          <a:ln/>
        </p:spPr>
        <p:txBody>
          <a:bodyPr wrap="square" lIns="0" tIns="0" rIns="0" bIns="0" rtlCol="0" anchor="ctr"/>
          <a:lstStyle/>
          <a:p>
            <a:pPr algn="ctr" indent="0" marL="0">
              <a:buNone/>
            </a:pPr>
            <a:r>
              <a:rPr lang="en-US" sz="1200" dirty="0">
                <a:solidFill>
                  <a:srgbClr val="212121"/>
                </a:solidFill>
                <a:latin typeface="Open Sans ExtraBold" pitchFamily="34" charset="0"/>
                <a:ea typeface="Open Sans ExtraBold" pitchFamily="34" charset="-122"/>
                <a:cs typeface="Open Sans ExtraBold" pitchFamily="34" charset="-120"/>
              </a:rPr>
              <a:t>QR app</a:t>
            </a:r>
            <a:endParaRPr lang="en-US" sz="1200" dirty="0"/>
          </a:p>
        </p:txBody>
      </p:sp>
      <p:sp>
        <p:nvSpPr>
          <p:cNvPr id="17" name="Text 10"/>
          <p:cNvSpPr/>
          <p:nvPr/>
        </p:nvSpPr>
        <p:spPr>
          <a:xfrm>
            <a:off x="5852160" y="1261872"/>
            <a:ext cx="1737360" cy="237744"/>
          </a:xfrm>
          <a:prstGeom prst="rect">
            <a:avLst/>
          </a:prstGeom>
          <a:noFill/>
          <a:ln/>
        </p:spPr>
        <p:txBody>
          <a:bodyPr wrap="square" lIns="0" tIns="0" rIns="0" bIns="0" rtlCol="0" anchor="ctr"/>
          <a:lstStyle/>
          <a:p>
            <a:pPr algn="r" indent="0" marL="0">
              <a:buNone/>
            </a:pPr>
            <a:r>
              <a:rPr lang="en-US" sz="900" dirty="0">
                <a:solidFill>
                  <a:srgbClr val="6B6B6B"/>
                </a:solidFill>
                <a:latin typeface="Open Sans" pitchFamily="34" charset="0"/>
                <a:ea typeface="Open Sans" pitchFamily="34" charset="-122"/>
                <a:cs typeface="Open Sans" pitchFamily="34" charset="-120"/>
              </a:rPr>
              <a:t>Provala dal telefono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548640" y="274320"/>
            <a:ext cx="4572000" cy="237744"/>
          </a:xfrm>
          <a:prstGeom prst="rect">
            <a:avLst/>
          </a:prstGeom>
          <a:noFill/>
          <a:ln/>
        </p:spPr>
        <p:txBody>
          <a:bodyPr wrap="square" lIns="0" tIns="0" rIns="0" bIns="0" rtlCol="0" anchor="ctr"/>
          <a:lstStyle/>
          <a:p>
            <a:pPr indent="0" marL="0">
              <a:buNone/>
            </a:pPr>
            <a:r>
              <a:rPr lang="en-US" sz="900" spc="200" kern="0" dirty="0">
                <a:solidFill>
                  <a:srgbClr val="FFFFFF"/>
                </a:solidFill>
                <a:latin typeface="Open Sans SemiBold" pitchFamily="34" charset="0"/>
                <a:ea typeface="Open Sans SemiBold" pitchFamily="34" charset="-122"/>
                <a:cs typeface="Open Sans SemiBold" pitchFamily="34" charset="-120"/>
              </a:rPr>
              <a:t>03  DOVE LAVORA CLAUDE</a:t>
            </a:r>
            <a:endParaRPr lang="en-US" sz="900" dirty="0"/>
          </a:p>
        </p:txBody>
      </p:sp>
      <p:sp>
        <p:nvSpPr>
          <p:cNvPr id="3" name="Text 1"/>
          <p:cNvSpPr/>
          <p:nvPr/>
        </p:nvSpPr>
        <p:spPr>
          <a:xfrm>
            <a:off x="5943600" y="256032"/>
            <a:ext cx="2331720" cy="274320"/>
          </a:xfrm>
          <a:prstGeom prst="rect">
            <a:avLst/>
          </a:prstGeom>
          <a:noFill/>
          <a:ln/>
        </p:spPr>
        <p:txBody>
          <a:bodyPr wrap="square" lIns="0" tIns="0" rIns="0" bIns="0" rtlCol="0" anchor="ctr"/>
          <a:lstStyle/>
          <a:p>
            <a:pPr algn="r" indent="0" marL="0">
              <a:buNone/>
            </a:pPr>
            <a:r>
              <a:rPr lang="en-US" sz="1150" b="1" dirty="0">
                <a:solidFill>
                  <a:srgbClr val="FFFFFF"/>
                </a:solidFill>
                <a:latin typeface="Open Sans" pitchFamily="34" charset="0"/>
                <a:ea typeface="Open Sans" pitchFamily="34" charset="-122"/>
                <a:cs typeface="Open Sans" pitchFamily="34" charset="-120"/>
              </a:rPr>
              <a:t>GuidaMI</a:t>
            </a:r>
            <a:endParaRPr lang="en-US" sz="1150" dirty="0"/>
          </a:p>
        </p:txBody>
      </p:sp>
      <p:pic>
        <p:nvPicPr>
          <p:cNvPr id="4" name="Image 0" descr="/home/thomas/milano-evolution/design/logo/azzurro/icon-A.png">    </p:cNvPr>
          <p:cNvPicPr>
            <a:picLocks noChangeAspect="1"/>
          </p:cNvPicPr>
          <p:nvPr/>
        </p:nvPicPr>
        <p:blipFill>
          <a:blip r:embed="rId1"/>
          <a:stretch>
            <a:fillRect/>
          </a:stretch>
        </p:blipFill>
        <p:spPr>
          <a:xfrm>
            <a:off x="8339328" y="246888"/>
            <a:ext cx="292608" cy="292608"/>
          </a:xfrm>
          <a:prstGeom prst="rect">
            <a:avLst/>
          </a:prstGeom>
        </p:spPr>
      </p:pic>
      <p:sp>
        <p:nvSpPr>
          <p:cNvPr id="5" name="Text 2"/>
          <p:cNvSpPr/>
          <p:nvPr/>
        </p:nvSpPr>
        <p:spPr>
          <a:xfrm>
            <a:off x="548640" y="731520"/>
            <a:ext cx="6035040" cy="1280160"/>
          </a:xfrm>
          <a:prstGeom prst="rect">
            <a:avLst/>
          </a:prstGeom>
          <a:noFill/>
          <a:ln/>
        </p:spPr>
        <p:txBody>
          <a:bodyPr wrap="square" lIns="0" tIns="0" rIns="0" bIns="0" rtlCol="0" anchor="t"/>
          <a:lstStyle/>
          <a:p>
            <a:pPr indent="0" marL="0">
              <a:lnSpc>
                <a:spcPct val="95000"/>
              </a:lnSpc>
              <a:buNone/>
            </a:pPr>
            <a:r>
              <a:rPr lang="en-US" sz="3400" dirty="0">
                <a:solidFill>
                  <a:srgbClr val="FFFFFF"/>
                </a:solidFill>
                <a:latin typeface="Open Sans ExtraBold" pitchFamily="34" charset="0"/>
                <a:ea typeface="Open Sans ExtraBold" pitchFamily="34" charset="-122"/>
                <a:cs typeface="Open Sans ExtraBold" pitchFamily="34" charset="-120"/>
              </a:rPr>
              <a:t>Claude fa il lavoro.</a:t>
            </a:r>
            <a:endParaRPr lang="en-US" sz="3400" dirty="0"/>
          </a:p>
          <a:p>
            <a:pPr indent="0" marL="0">
              <a:lnSpc>
                <a:spcPct val="95000"/>
              </a:lnSpc>
              <a:buNone/>
            </a:pPr>
            <a:r>
              <a:rPr lang="en-US" sz="3400" dirty="0">
                <a:solidFill>
                  <a:srgbClr val="FFC000"/>
                </a:solidFill>
                <a:latin typeface="Open Sans ExtraBold" pitchFamily="34" charset="0"/>
                <a:ea typeface="Open Sans ExtraBold" pitchFamily="34" charset="-122"/>
                <a:cs typeface="Open Sans ExtraBold" pitchFamily="34" charset="-120"/>
              </a:rPr>
              <a:t>La persona decide.</a:t>
            </a:r>
            <a:endParaRPr lang="en-US" sz="3400" dirty="0"/>
          </a:p>
        </p:txBody>
      </p:sp>
      <p:sp>
        <p:nvSpPr>
          <p:cNvPr id="6" name="Text 3"/>
          <p:cNvSpPr/>
          <p:nvPr/>
        </p:nvSpPr>
        <p:spPr>
          <a:xfrm>
            <a:off x="6035040" y="1572768"/>
            <a:ext cx="2560320" cy="365760"/>
          </a:xfrm>
          <a:prstGeom prst="rect">
            <a:avLst/>
          </a:prstGeom>
          <a:noFill/>
          <a:ln/>
        </p:spPr>
        <p:txBody>
          <a:bodyPr wrap="square" lIns="0" tIns="0" rIns="0" bIns="0" rtlCol="0" anchor="b"/>
          <a:lstStyle/>
          <a:p>
            <a:pPr algn="r" indent="0" marL="0">
              <a:buNone/>
            </a:pPr>
            <a:r>
              <a:rPr lang="en-US" sz="800" dirty="0">
                <a:solidFill>
                  <a:srgbClr val="9A9A9A"/>
                </a:solidFill>
                <a:latin typeface="Open Sans" pitchFamily="34" charset="0"/>
                <a:ea typeface="Open Sans" pitchFamily="34" charset="-122"/>
                <a:cs typeface="Open Sans" pitchFamily="34" charset="-120"/>
              </a:rPr>
              <a:t>claude-haiku-4-5 nella voce</a:t>
            </a:r>
            <a:endParaRPr lang="en-US" sz="800" dirty="0"/>
          </a:p>
          <a:p>
            <a:pPr algn="r" indent="0" marL="0">
              <a:buNone/>
            </a:pPr>
            <a:r>
              <a:rPr lang="en-US" sz="800" dirty="0">
                <a:solidFill>
                  <a:srgbClr val="9A9A9A"/>
                </a:solidFill>
                <a:latin typeface="Open Sans" pitchFamily="34" charset="0"/>
                <a:ea typeface="Open Sans" pitchFamily="34" charset="-122"/>
                <a:cs typeface="Open Sans" pitchFamily="34" charset="-120"/>
              </a:rPr>
              <a:t>claude-sonnet-5-5 per piano e passaporto</a:t>
            </a:r>
            <a:endParaRPr lang="en-US" sz="800" dirty="0"/>
          </a:p>
        </p:txBody>
      </p:sp>
      <p:sp>
        <p:nvSpPr>
          <p:cNvPr id="7" name="Shape 4"/>
          <p:cNvSpPr/>
          <p:nvPr/>
        </p:nvSpPr>
        <p:spPr>
          <a:xfrm>
            <a:off x="548640" y="2286000"/>
            <a:ext cx="1874520" cy="0"/>
          </a:xfrm>
          <a:prstGeom prst="line">
            <a:avLst/>
          </a:prstGeom>
          <a:noFill/>
          <a:ln w="12700">
            <a:solidFill>
              <a:srgbClr val="4A4A4A"/>
            </a:solidFill>
            <a:prstDash val="solid"/>
          </a:ln>
        </p:spPr>
      </p:sp>
      <p:sp>
        <p:nvSpPr>
          <p:cNvPr id="8" name="Shape 5"/>
          <p:cNvSpPr/>
          <p:nvPr/>
        </p:nvSpPr>
        <p:spPr>
          <a:xfrm>
            <a:off x="2606040" y="2286000"/>
            <a:ext cx="1874520" cy="0"/>
          </a:xfrm>
          <a:prstGeom prst="line">
            <a:avLst/>
          </a:prstGeom>
          <a:noFill/>
          <a:ln w="12700">
            <a:solidFill>
              <a:srgbClr val="4A4A4A"/>
            </a:solidFill>
            <a:prstDash val="solid"/>
          </a:ln>
        </p:spPr>
      </p:sp>
      <p:sp>
        <p:nvSpPr>
          <p:cNvPr id="9" name="Shape 6"/>
          <p:cNvSpPr/>
          <p:nvPr/>
        </p:nvSpPr>
        <p:spPr>
          <a:xfrm>
            <a:off x="4663440" y="2286000"/>
            <a:ext cx="1874520" cy="0"/>
          </a:xfrm>
          <a:prstGeom prst="line">
            <a:avLst/>
          </a:prstGeom>
          <a:noFill/>
          <a:ln w="12700">
            <a:solidFill>
              <a:srgbClr val="4A4A4A"/>
            </a:solidFill>
            <a:prstDash val="solid"/>
          </a:ln>
        </p:spPr>
      </p:sp>
      <p:sp>
        <p:nvSpPr>
          <p:cNvPr id="10" name="Text 7"/>
          <p:cNvSpPr/>
          <p:nvPr/>
        </p:nvSpPr>
        <p:spPr>
          <a:xfrm>
            <a:off x="548640" y="2432304"/>
            <a:ext cx="1874520" cy="219456"/>
          </a:xfrm>
          <a:prstGeom prst="rect">
            <a:avLst/>
          </a:prstGeom>
          <a:noFill/>
          <a:ln/>
        </p:spPr>
        <p:txBody>
          <a:bodyPr wrap="square" lIns="0" tIns="0" rIns="0" bIns="0" rtlCol="0" anchor="ctr"/>
          <a:lstStyle/>
          <a:p>
            <a:pPr indent="0" marL="0">
              <a:buNone/>
            </a:pPr>
            <a:r>
              <a:rPr lang="en-US" sz="900" spc="150" kern="0" dirty="0">
                <a:solidFill>
                  <a:srgbClr val="FFC000"/>
                </a:solidFill>
                <a:latin typeface="Open Sans SemiBold" pitchFamily="34" charset="0"/>
                <a:ea typeface="Open Sans SemiBold" pitchFamily="34" charset="-122"/>
                <a:cs typeface="Open Sans SemiBold" pitchFamily="34" charset="-120"/>
              </a:rPr>
              <a:t>01  CAPISCE</a:t>
            </a:r>
            <a:endParaRPr lang="en-US" sz="900" dirty="0"/>
          </a:p>
        </p:txBody>
      </p:sp>
      <p:sp>
        <p:nvSpPr>
          <p:cNvPr id="11" name="Text 8"/>
          <p:cNvSpPr/>
          <p:nvPr/>
        </p:nvSpPr>
        <p:spPr>
          <a:xfrm>
            <a:off x="548640" y="2788920"/>
            <a:ext cx="1783080" cy="1097280"/>
          </a:xfrm>
          <a:prstGeom prst="rect">
            <a:avLst/>
          </a:prstGeom>
          <a:noFill/>
          <a:ln/>
        </p:spPr>
        <p:txBody>
          <a:bodyPr wrap="square" lIns="0" tIns="0" rIns="0" bIns="0" rtlCol="0" anchor="t"/>
          <a:lstStyle/>
          <a:p>
            <a:pPr indent="0" marL="0">
              <a:buNone/>
            </a:pPr>
            <a:r>
              <a:rPr lang="en-US" sz="1200" dirty="0">
                <a:solidFill>
                  <a:srgbClr val="FFFFFF"/>
                </a:solidFill>
                <a:latin typeface="Open Sans" pitchFamily="34" charset="0"/>
                <a:ea typeface="Open Sans" pitchFamily="34" charset="-122"/>
                <a:cs typeface="Open Sans" pitchFamily="34" charset="-120"/>
              </a:rPr>
              <a:t>Cosa le serve, nella sua lingua. Compila la scheda mentre lei parla.</a:t>
            </a:r>
            <a:endParaRPr lang="en-US" sz="1200" dirty="0"/>
          </a:p>
        </p:txBody>
      </p:sp>
      <p:sp>
        <p:nvSpPr>
          <p:cNvPr id="12" name="Text 9"/>
          <p:cNvSpPr/>
          <p:nvPr/>
        </p:nvSpPr>
        <p:spPr>
          <a:xfrm>
            <a:off x="2606040" y="2432304"/>
            <a:ext cx="1874520" cy="219456"/>
          </a:xfrm>
          <a:prstGeom prst="rect">
            <a:avLst/>
          </a:prstGeom>
          <a:noFill/>
          <a:ln/>
        </p:spPr>
        <p:txBody>
          <a:bodyPr wrap="square" lIns="0" tIns="0" rIns="0" bIns="0" rtlCol="0" anchor="ctr"/>
          <a:lstStyle/>
          <a:p>
            <a:pPr indent="0" marL="0">
              <a:buNone/>
            </a:pPr>
            <a:r>
              <a:rPr lang="en-US" sz="900" spc="150" kern="0" dirty="0">
                <a:solidFill>
                  <a:srgbClr val="FFC000"/>
                </a:solidFill>
                <a:latin typeface="Open Sans SemiBold" pitchFamily="34" charset="0"/>
                <a:ea typeface="Open Sans SemiBold" pitchFamily="34" charset="-122"/>
                <a:cs typeface="Open Sans SemiBold" pitchFamily="34" charset="-120"/>
              </a:rPr>
              <a:t>02  LEGGE</a:t>
            </a:r>
            <a:endParaRPr lang="en-US" sz="900" dirty="0"/>
          </a:p>
        </p:txBody>
      </p:sp>
      <p:sp>
        <p:nvSpPr>
          <p:cNvPr id="13" name="Text 10"/>
          <p:cNvSpPr/>
          <p:nvPr/>
        </p:nvSpPr>
        <p:spPr>
          <a:xfrm>
            <a:off x="2606040" y="2743200"/>
            <a:ext cx="777240" cy="502920"/>
          </a:xfrm>
          <a:prstGeom prst="rect">
            <a:avLst/>
          </a:prstGeom>
          <a:noFill/>
          <a:ln/>
        </p:spPr>
        <p:txBody>
          <a:bodyPr wrap="square" lIns="0" tIns="0" rIns="0" bIns="0" rtlCol="0" anchor="ctr"/>
          <a:lstStyle/>
          <a:p>
            <a:pPr indent="0" marL="0">
              <a:buNone/>
            </a:pPr>
            <a:r>
              <a:rPr lang="en-US" sz="2800" dirty="0">
                <a:solidFill>
                  <a:srgbClr val="FFC000"/>
                </a:solidFill>
                <a:latin typeface="Open Sans ExtraBold" pitchFamily="34" charset="0"/>
                <a:ea typeface="Open Sans ExtraBold" pitchFamily="34" charset="-122"/>
                <a:cs typeface="Open Sans ExtraBold" pitchFamily="34" charset="-120"/>
              </a:rPr>
              <a:t>66</a:t>
            </a:r>
            <a:endParaRPr lang="en-US" sz="2800" dirty="0"/>
          </a:p>
        </p:txBody>
      </p:sp>
      <p:sp>
        <p:nvSpPr>
          <p:cNvPr id="14" name="Text 11"/>
          <p:cNvSpPr/>
          <p:nvPr/>
        </p:nvSpPr>
        <p:spPr>
          <a:xfrm>
            <a:off x="3429000" y="2743200"/>
            <a:ext cx="1051560" cy="502920"/>
          </a:xfrm>
          <a:prstGeom prst="rect">
            <a:avLst/>
          </a:prstGeom>
          <a:noFill/>
          <a:ln/>
        </p:spPr>
        <p:txBody>
          <a:bodyPr wrap="square" lIns="0" tIns="0" rIns="0" bIns="0" rtlCol="0" anchor="ctr"/>
          <a:lstStyle/>
          <a:p>
            <a:pPr indent="0" marL="0">
              <a:buNone/>
            </a:pPr>
            <a:r>
              <a:rPr lang="en-US" sz="1050" dirty="0">
                <a:solidFill>
                  <a:srgbClr val="FFFFFF"/>
                </a:solidFill>
                <a:latin typeface="Open Sans" pitchFamily="34" charset="0"/>
                <a:ea typeface="Open Sans" pitchFamily="34" charset="-122"/>
                <a:cs typeface="Open Sans" pitchFamily="34" charset="-120"/>
              </a:rPr>
              <a:t>guide YesMilano</a:t>
            </a:r>
            <a:endParaRPr lang="en-US" sz="1050" dirty="0"/>
          </a:p>
        </p:txBody>
      </p:sp>
      <p:sp>
        <p:nvSpPr>
          <p:cNvPr id="15" name="Text 12"/>
          <p:cNvSpPr/>
          <p:nvPr/>
        </p:nvSpPr>
        <p:spPr>
          <a:xfrm>
            <a:off x="2606040" y="3383280"/>
            <a:ext cx="777240" cy="502920"/>
          </a:xfrm>
          <a:prstGeom prst="rect">
            <a:avLst/>
          </a:prstGeom>
          <a:noFill/>
          <a:ln/>
        </p:spPr>
        <p:txBody>
          <a:bodyPr wrap="square" lIns="0" tIns="0" rIns="0" bIns="0" rtlCol="0" anchor="ctr"/>
          <a:lstStyle/>
          <a:p>
            <a:pPr indent="0" marL="0">
              <a:buNone/>
            </a:pPr>
            <a:r>
              <a:rPr lang="en-US" sz="2800" dirty="0">
                <a:solidFill>
                  <a:srgbClr val="FFC000"/>
                </a:solidFill>
                <a:latin typeface="Open Sans ExtraBold" pitchFamily="34" charset="0"/>
                <a:ea typeface="Open Sans ExtraBold" pitchFamily="34" charset="-122"/>
                <a:cs typeface="Open Sans ExtraBold" pitchFamily="34" charset="-120"/>
              </a:rPr>
              <a:t>585</a:t>
            </a:r>
            <a:endParaRPr lang="en-US" sz="2800" dirty="0"/>
          </a:p>
        </p:txBody>
      </p:sp>
      <p:sp>
        <p:nvSpPr>
          <p:cNvPr id="16" name="Text 13"/>
          <p:cNvSpPr/>
          <p:nvPr/>
        </p:nvSpPr>
        <p:spPr>
          <a:xfrm>
            <a:off x="3429000" y="3383280"/>
            <a:ext cx="1051560" cy="502920"/>
          </a:xfrm>
          <a:prstGeom prst="rect">
            <a:avLst/>
          </a:prstGeom>
          <a:noFill/>
          <a:ln/>
        </p:spPr>
        <p:txBody>
          <a:bodyPr wrap="square" lIns="0" tIns="0" rIns="0" bIns="0" rtlCol="0" anchor="ctr"/>
          <a:lstStyle/>
          <a:p>
            <a:pPr indent="0" marL="0">
              <a:buNone/>
            </a:pPr>
            <a:r>
              <a:rPr lang="en-US" sz="1050" dirty="0">
                <a:solidFill>
                  <a:srgbClr val="FFFFFF"/>
                </a:solidFill>
                <a:latin typeface="Open Sans" pitchFamily="34" charset="0"/>
                <a:ea typeface="Open Sans" pitchFamily="34" charset="-122"/>
                <a:cs typeface="Open Sans" pitchFamily="34" charset="-120"/>
              </a:rPr>
              <a:t>procedure del Comune</a:t>
            </a:r>
            <a:endParaRPr lang="en-US" sz="1050" dirty="0"/>
          </a:p>
        </p:txBody>
      </p:sp>
      <p:sp>
        <p:nvSpPr>
          <p:cNvPr id="17" name="Text 14"/>
          <p:cNvSpPr/>
          <p:nvPr/>
        </p:nvSpPr>
        <p:spPr>
          <a:xfrm>
            <a:off x="2606040" y="4023360"/>
            <a:ext cx="777240" cy="502920"/>
          </a:xfrm>
          <a:prstGeom prst="rect">
            <a:avLst/>
          </a:prstGeom>
          <a:noFill/>
          <a:ln/>
        </p:spPr>
        <p:txBody>
          <a:bodyPr wrap="square" lIns="0" tIns="0" rIns="0" bIns="0" rtlCol="0" anchor="ctr"/>
          <a:lstStyle/>
          <a:p>
            <a:pPr indent="0" marL="0">
              <a:buNone/>
            </a:pPr>
            <a:r>
              <a:rPr lang="en-US" sz="2800" dirty="0">
                <a:solidFill>
                  <a:srgbClr val="FFC000"/>
                </a:solidFill>
                <a:latin typeface="Open Sans ExtraBold" pitchFamily="34" charset="0"/>
                <a:ea typeface="Open Sans ExtraBold" pitchFamily="34" charset="-122"/>
                <a:cs typeface="Open Sans ExtraBold" pitchFamily="34" charset="-120"/>
              </a:rPr>
              <a:t>8</a:t>
            </a:r>
            <a:endParaRPr lang="en-US" sz="2800" dirty="0"/>
          </a:p>
        </p:txBody>
      </p:sp>
      <p:sp>
        <p:nvSpPr>
          <p:cNvPr id="18" name="Text 15"/>
          <p:cNvSpPr/>
          <p:nvPr/>
        </p:nvSpPr>
        <p:spPr>
          <a:xfrm>
            <a:off x="3429000" y="4023360"/>
            <a:ext cx="1051560" cy="502920"/>
          </a:xfrm>
          <a:prstGeom prst="rect">
            <a:avLst/>
          </a:prstGeom>
          <a:noFill/>
          <a:ln/>
        </p:spPr>
        <p:txBody>
          <a:bodyPr wrap="square" lIns="0" tIns="0" rIns="0" bIns="0" rtlCol="0" anchor="ctr"/>
          <a:lstStyle/>
          <a:p>
            <a:pPr indent="0" marL="0">
              <a:buNone/>
            </a:pPr>
            <a:r>
              <a:rPr lang="en-US" sz="1050" dirty="0">
                <a:solidFill>
                  <a:srgbClr val="FFFFFF"/>
                </a:solidFill>
                <a:latin typeface="Open Sans" pitchFamily="34" charset="0"/>
                <a:ea typeface="Open Sans" pitchFamily="34" charset="-122"/>
                <a:cs typeface="Open Sans" pitchFamily="34" charset="-120"/>
              </a:rPr>
              <a:t>dataset open data</a:t>
            </a:r>
            <a:endParaRPr lang="en-US" sz="1050" dirty="0"/>
          </a:p>
        </p:txBody>
      </p:sp>
      <p:sp>
        <p:nvSpPr>
          <p:cNvPr id="19" name="Text 16"/>
          <p:cNvSpPr/>
          <p:nvPr/>
        </p:nvSpPr>
        <p:spPr>
          <a:xfrm>
            <a:off x="4663440" y="2432304"/>
            <a:ext cx="1874520" cy="219456"/>
          </a:xfrm>
          <a:prstGeom prst="rect">
            <a:avLst/>
          </a:prstGeom>
          <a:noFill/>
          <a:ln/>
        </p:spPr>
        <p:txBody>
          <a:bodyPr wrap="square" lIns="0" tIns="0" rIns="0" bIns="0" rtlCol="0" anchor="ctr"/>
          <a:lstStyle/>
          <a:p>
            <a:pPr indent="0" marL="0">
              <a:buNone/>
            </a:pPr>
            <a:r>
              <a:rPr lang="en-US" sz="900" spc="150" kern="0" dirty="0">
                <a:solidFill>
                  <a:srgbClr val="FFC000"/>
                </a:solidFill>
                <a:latin typeface="Open Sans SemiBold" pitchFamily="34" charset="0"/>
                <a:ea typeface="Open Sans SemiBold" pitchFamily="34" charset="-122"/>
                <a:cs typeface="Open Sans SemiBold" pitchFamily="34" charset="-120"/>
              </a:rPr>
              <a:t>03  COMPILA</a:t>
            </a:r>
            <a:endParaRPr lang="en-US" sz="900" dirty="0"/>
          </a:p>
        </p:txBody>
      </p:sp>
      <p:sp>
        <p:nvSpPr>
          <p:cNvPr id="20" name="Text 17"/>
          <p:cNvSpPr/>
          <p:nvPr/>
        </p:nvSpPr>
        <p:spPr>
          <a:xfrm>
            <a:off x="4663440" y="2788920"/>
            <a:ext cx="1783080" cy="1097280"/>
          </a:xfrm>
          <a:prstGeom prst="rect">
            <a:avLst/>
          </a:prstGeom>
          <a:noFill/>
          <a:ln/>
        </p:spPr>
        <p:txBody>
          <a:bodyPr wrap="square" lIns="0" tIns="0" rIns="0" bIns="0" rtlCol="0" anchor="t"/>
          <a:lstStyle/>
          <a:p>
            <a:pPr indent="0" marL="0">
              <a:buNone/>
            </a:pPr>
            <a:r>
              <a:rPr lang="en-US" sz="1200" dirty="0">
                <a:solidFill>
                  <a:srgbClr val="FFFFFF"/>
                </a:solidFill>
                <a:latin typeface="Open Sans" pitchFamily="34" charset="0"/>
                <a:ea typeface="Open Sans" pitchFamily="34" charset="-122"/>
                <a:cs typeface="Open Sans" pitchFamily="34" charset="-120"/>
              </a:rPr>
              <a:t>I moduli ufficiali, con i dati letti dal passaporto. Il PDF esce già pronto.</a:t>
            </a:r>
            <a:endParaRPr lang="en-US" sz="1200" dirty="0"/>
          </a:p>
        </p:txBody>
      </p:sp>
      <p:sp>
        <p:nvSpPr>
          <p:cNvPr id="21" name="Shape 18"/>
          <p:cNvSpPr/>
          <p:nvPr/>
        </p:nvSpPr>
        <p:spPr>
          <a:xfrm>
            <a:off x="6720840" y="2286000"/>
            <a:ext cx="1874520" cy="2468880"/>
          </a:xfrm>
          <a:prstGeom prst="rect">
            <a:avLst/>
          </a:prstGeom>
          <a:solidFill>
            <a:srgbClr val="FFC000"/>
          </a:solidFill>
          <a:ln w="12700">
            <a:solidFill>
              <a:srgbClr val="FFC000"/>
            </a:solidFill>
            <a:prstDash val="solid"/>
          </a:ln>
        </p:spPr>
      </p:sp>
      <p:sp>
        <p:nvSpPr>
          <p:cNvPr id="22" name="Text 19"/>
          <p:cNvSpPr/>
          <p:nvPr/>
        </p:nvSpPr>
        <p:spPr>
          <a:xfrm>
            <a:off x="6885432" y="2432304"/>
            <a:ext cx="1874520" cy="219456"/>
          </a:xfrm>
          <a:prstGeom prst="rect">
            <a:avLst/>
          </a:prstGeom>
          <a:noFill/>
          <a:ln/>
        </p:spPr>
        <p:txBody>
          <a:bodyPr wrap="square" lIns="0" tIns="0" rIns="0" bIns="0" rtlCol="0" anchor="ctr"/>
          <a:lstStyle/>
          <a:p>
            <a:pPr indent="0" marL="0">
              <a:buNone/>
            </a:pPr>
            <a:r>
              <a:rPr lang="en-US" sz="900" spc="150" kern="0" dirty="0">
                <a:solidFill>
                  <a:srgbClr val="212121"/>
                </a:solidFill>
                <a:latin typeface="Open Sans SemiBold" pitchFamily="34" charset="0"/>
                <a:ea typeface="Open Sans SemiBold" pitchFamily="34" charset="-122"/>
                <a:cs typeface="Open Sans SemiBold" pitchFamily="34" charset="-120"/>
              </a:rPr>
              <a:t>04  LA PERSONA</a:t>
            </a:r>
            <a:endParaRPr lang="en-US" sz="900" dirty="0"/>
          </a:p>
        </p:txBody>
      </p:sp>
      <p:sp>
        <p:nvSpPr>
          <p:cNvPr id="23" name="Text 20"/>
          <p:cNvSpPr/>
          <p:nvPr/>
        </p:nvSpPr>
        <p:spPr>
          <a:xfrm>
            <a:off x="6885432" y="2743200"/>
            <a:ext cx="1600200" cy="457200"/>
          </a:xfrm>
          <a:prstGeom prst="rect">
            <a:avLst/>
          </a:prstGeom>
          <a:noFill/>
          <a:ln/>
        </p:spPr>
        <p:txBody>
          <a:bodyPr wrap="square" lIns="0" tIns="0" rIns="0" bIns="0" rtlCol="0" anchor="ctr"/>
          <a:lstStyle/>
          <a:p>
            <a:pPr indent="0" marL="0">
              <a:buNone/>
            </a:pPr>
            <a:r>
              <a:rPr lang="en-US" sz="2200" dirty="0">
                <a:solidFill>
                  <a:srgbClr val="212121"/>
                </a:solidFill>
                <a:latin typeface="Open Sans ExtraBold" pitchFamily="34" charset="0"/>
                <a:ea typeface="Open Sans ExtraBold" pitchFamily="34" charset="-122"/>
                <a:cs typeface="Open Sans ExtraBold" pitchFamily="34" charset="-120"/>
              </a:rPr>
              <a:t>Decide</a:t>
            </a:r>
            <a:endParaRPr lang="en-US" sz="2200" dirty="0"/>
          </a:p>
        </p:txBody>
      </p:sp>
      <p:sp>
        <p:nvSpPr>
          <p:cNvPr id="24" name="Text 21"/>
          <p:cNvSpPr/>
          <p:nvPr/>
        </p:nvSpPr>
        <p:spPr>
          <a:xfrm>
            <a:off x="6885432" y="3337560"/>
            <a:ext cx="1600200" cy="1188720"/>
          </a:xfrm>
          <a:prstGeom prst="rect">
            <a:avLst/>
          </a:prstGeom>
          <a:noFill/>
          <a:ln/>
        </p:spPr>
        <p:txBody>
          <a:bodyPr wrap="square" lIns="0" tIns="0" rIns="0" bIns="0" rtlCol="0" anchor="t"/>
          <a:lstStyle/>
          <a:p>
            <a:pPr indent="0" marL="0">
              <a:spcAft>
                <a:spcPts val="600"/>
              </a:spcAft>
              <a:buNone/>
            </a:pPr>
            <a:r>
              <a:rPr lang="en-US" sz="1150" dirty="0">
                <a:solidFill>
                  <a:srgbClr val="212121"/>
                </a:solidFill>
                <a:latin typeface="Open Sans SemiBold" pitchFamily="34" charset="0"/>
                <a:ea typeface="Open Sans SemiBold" pitchFamily="34" charset="-122"/>
                <a:cs typeface="Open Sans SemiBold" pitchFamily="34" charset="-120"/>
              </a:rPr>
              <a:t>Conferma i dati</a:t>
            </a:r>
            <a:endParaRPr lang="en-US" sz="1150" dirty="0"/>
          </a:p>
          <a:p>
            <a:pPr indent="0" marL="0">
              <a:spcAft>
                <a:spcPts val="600"/>
              </a:spcAft>
              <a:buNone/>
            </a:pPr>
            <a:r>
              <a:rPr lang="en-US" sz="1150" dirty="0">
                <a:solidFill>
                  <a:srgbClr val="212121"/>
                </a:solidFill>
                <a:latin typeface="Open Sans SemiBold" pitchFamily="34" charset="0"/>
                <a:ea typeface="Open Sans SemiBold" pitchFamily="34" charset="-122"/>
                <a:cs typeface="Open Sans SemiBold" pitchFamily="34" charset="-120"/>
              </a:rPr>
              <a:t>Firma i moduli</a:t>
            </a:r>
            <a:endParaRPr lang="en-US" sz="1150" dirty="0"/>
          </a:p>
          <a:p>
            <a:pPr indent="0" marL="0">
              <a:spcAft>
                <a:spcPts val="600"/>
              </a:spcAft>
              <a:buNone/>
            </a:pPr>
            <a:r>
              <a:rPr lang="en-US" sz="1150" dirty="0">
                <a:solidFill>
                  <a:srgbClr val="212121"/>
                </a:solidFill>
                <a:latin typeface="Open Sans SemiBold" pitchFamily="34" charset="0"/>
                <a:ea typeface="Open Sans SemiBold" pitchFamily="34" charset="-122"/>
                <a:cs typeface="Open Sans SemiBold" pitchFamily="34" charset="-120"/>
              </a:rPr>
              <a:t>Spegne la voce quando vuole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4572000" cy="237744"/>
          </a:xfrm>
          <a:prstGeom prst="rect">
            <a:avLst/>
          </a:prstGeom>
          <a:noFill/>
          <a:ln/>
        </p:spPr>
        <p:txBody>
          <a:bodyPr wrap="square" lIns="0" tIns="0" rIns="0" bIns="0" rtlCol="0" anchor="ctr"/>
          <a:lstStyle/>
          <a:p>
            <a:pPr indent="0" marL="0">
              <a:buNone/>
            </a:pPr>
            <a:r>
              <a:rPr lang="en-US" sz="900" spc="200" kern="0" dirty="0">
                <a:solidFill>
                  <a:srgbClr val="212121"/>
                </a:solidFill>
                <a:latin typeface="Open Sans SemiBold" pitchFamily="34" charset="0"/>
                <a:ea typeface="Open Sans SemiBold" pitchFamily="34" charset="-122"/>
                <a:cs typeface="Open Sans SemiBold" pitchFamily="34" charset="-120"/>
              </a:rPr>
              <a:t>04  IL PRIMO GIORNO PER IL COMUNE</a:t>
            </a:r>
            <a:endParaRPr lang="en-US" sz="900" dirty="0"/>
          </a:p>
        </p:txBody>
      </p:sp>
      <p:sp>
        <p:nvSpPr>
          <p:cNvPr id="3" name="Text 1"/>
          <p:cNvSpPr/>
          <p:nvPr/>
        </p:nvSpPr>
        <p:spPr>
          <a:xfrm>
            <a:off x="5943600" y="256032"/>
            <a:ext cx="2331720" cy="274320"/>
          </a:xfrm>
          <a:prstGeom prst="rect">
            <a:avLst/>
          </a:prstGeom>
          <a:noFill/>
          <a:ln/>
        </p:spPr>
        <p:txBody>
          <a:bodyPr wrap="square" lIns="0" tIns="0" rIns="0" bIns="0" rtlCol="0" anchor="ctr"/>
          <a:lstStyle/>
          <a:p>
            <a:pPr algn="r" indent="0" marL="0">
              <a:buNone/>
            </a:pPr>
            <a:r>
              <a:rPr lang="en-US" sz="1150" b="1" dirty="0">
                <a:solidFill>
                  <a:srgbClr val="212121"/>
                </a:solidFill>
                <a:latin typeface="Open Sans" pitchFamily="34" charset="0"/>
                <a:ea typeface="Open Sans" pitchFamily="34" charset="-122"/>
                <a:cs typeface="Open Sans" pitchFamily="34" charset="-120"/>
              </a:rPr>
              <a:t>GuidaMI</a:t>
            </a:r>
            <a:endParaRPr lang="en-US" sz="1150" dirty="0"/>
          </a:p>
        </p:txBody>
      </p:sp>
      <p:pic>
        <p:nvPicPr>
          <p:cNvPr id="4" name="Image 0" descr="/home/thomas/milano-evolution/design/logo/azzurro/icon-A.png">    </p:cNvPr>
          <p:cNvPicPr>
            <a:picLocks noChangeAspect="1"/>
          </p:cNvPicPr>
          <p:nvPr/>
        </p:nvPicPr>
        <p:blipFill>
          <a:blip r:embed="rId1"/>
          <a:stretch>
            <a:fillRect/>
          </a:stretch>
        </p:blipFill>
        <p:spPr>
          <a:xfrm>
            <a:off x="8339328" y="246888"/>
            <a:ext cx="292608" cy="292608"/>
          </a:xfrm>
          <a:prstGeom prst="rect">
            <a:avLst/>
          </a:prstGeom>
        </p:spPr>
      </p:pic>
      <p:sp>
        <p:nvSpPr>
          <p:cNvPr id="5" name="Shape 2"/>
          <p:cNvSpPr/>
          <p:nvPr/>
        </p:nvSpPr>
        <p:spPr>
          <a:xfrm>
            <a:off x="0" y="0"/>
            <a:ext cx="4846320" cy="5143500"/>
          </a:xfrm>
          <a:prstGeom prst="rect">
            <a:avLst/>
          </a:prstGeom>
          <a:solidFill>
            <a:srgbClr val="3AC6F4"/>
          </a:solidFill>
          <a:ln w="12700">
            <a:solidFill>
              <a:srgbClr val="3AC6F4"/>
            </a:solidFill>
            <a:prstDash val="solid"/>
          </a:ln>
        </p:spPr>
      </p:sp>
      <p:sp>
        <p:nvSpPr>
          <p:cNvPr id="6" name="Text 3"/>
          <p:cNvSpPr/>
          <p:nvPr/>
        </p:nvSpPr>
        <p:spPr>
          <a:xfrm>
            <a:off x="548640" y="274320"/>
            <a:ext cx="4114800" cy="237744"/>
          </a:xfrm>
          <a:prstGeom prst="rect">
            <a:avLst/>
          </a:prstGeom>
          <a:noFill/>
          <a:ln/>
        </p:spPr>
        <p:txBody>
          <a:bodyPr wrap="square" lIns="0" tIns="0" rIns="0" bIns="0" rtlCol="0" anchor="ctr"/>
          <a:lstStyle/>
          <a:p>
            <a:pPr indent="0" marL="0">
              <a:buNone/>
            </a:pPr>
            <a:r>
              <a:rPr lang="en-US" sz="900" spc="200" kern="0" dirty="0">
                <a:solidFill>
                  <a:srgbClr val="212121"/>
                </a:solidFill>
                <a:latin typeface="Open Sans SemiBold" pitchFamily="34" charset="0"/>
                <a:ea typeface="Open Sans SemiBold" pitchFamily="34" charset="-122"/>
                <a:cs typeface="Open Sans SemiBold" pitchFamily="34" charset="-120"/>
              </a:rPr>
              <a:t>04  IL PRIMO GIORNO PER IL COMUNE</a:t>
            </a:r>
            <a:endParaRPr lang="en-US" sz="900" dirty="0"/>
          </a:p>
        </p:txBody>
      </p:sp>
      <p:sp>
        <p:nvSpPr>
          <p:cNvPr id="7" name="Text 4"/>
          <p:cNvSpPr/>
          <p:nvPr/>
        </p:nvSpPr>
        <p:spPr>
          <a:xfrm>
            <a:off x="548640" y="731520"/>
            <a:ext cx="4114800" cy="1280160"/>
          </a:xfrm>
          <a:prstGeom prst="rect">
            <a:avLst/>
          </a:prstGeom>
          <a:noFill/>
          <a:ln/>
        </p:spPr>
        <p:txBody>
          <a:bodyPr wrap="square" lIns="0" tIns="0" rIns="0" bIns="0" rtlCol="0" anchor="t"/>
          <a:lstStyle/>
          <a:p>
            <a:pPr indent="0" marL="0">
              <a:lnSpc>
                <a:spcPct val="95000"/>
              </a:lnSpc>
              <a:buNone/>
            </a:pPr>
            <a:r>
              <a:rPr lang="en-US" sz="3600" dirty="0">
                <a:solidFill>
                  <a:srgbClr val="212121"/>
                </a:solidFill>
                <a:latin typeface="Open Sans ExtraBold" pitchFamily="34" charset="0"/>
                <a:ea typeface="Open Sans ExtraBold" pitchFamily="34" charset="-122"/>
                <a:cs typeface="Open Sans ExtraBold" pitchFamily="34" charset="-120"/>
              </a:rPr>
              <a:t>Per partire</a:t>
            </a:r>
            <a:endParaRPr lang="en-US" sz="3600" dirty="0"/>
          </a:p>
          <a:p>
            <a:pPr indent="0" marL="0">
              <a:lnSpc>
                <a:spcPct val="95000"/>
              </a:lnSpc>
              <a:buNone/>
            </a:pPr>
            <a:r>
              <a:rPr lang="en-US" sz="3600" dirty="0">
                <a:solidFill>
                  <a:srgbClr val="212121"/>
                </a:solidFill>
                <a:latin typeface="Open Sans ExtraBold" pitchFamily="34" charset="0"/>
                <a:ea typeface="Open Sans ExtraBold" pitchFamily="34" charset="-122"/>
                <a:cs typeface="Open Sans ExtraBold" pitchFamily="34" charset="-120"/>
              </a:rPr>
              <a:t>basta un link.</a:t>
            </a:r>
            <a:endParaRPr lang="en-US" sz="3600" dirty="0"/>
          </a:p>
        </p:txBody>
      </p:sp>
      <p:sp>
        <p:nvSpPr>
          <p:cNvPr id="8" name="Text 5"/>
          <p:cNvSpPr/>
          <p:nvPr/>
        </p:nvSpPr>
        <p:spPr>
          <a:xfrm>
            <a:off x="548640" y="2194560"/>
            <a:ext cx="3840480" cy="548640"/>
          </a:xfrm>
          <a:prstGeom prst="rect">
            <a:avLst/>
          </a:prstGeom>
          <a:noFill/>
          <a:ln/>
        </p:spPr>
        <p:txBody>
          <a:bodyPr wrap="square" lIns="0" tIns="0" rIns="0" bIns="0" rtlCol="0" anchor="t"/>
          <a:lstStyle/>
          <a:p>
            <a:pPr indent="0" marL="0">
              <a:buNone/>
            </a:pPr>
            <a:r>
              <a:rPr lang="en-US" sz="1300" dirty="0">
                <a:solidFill>
                  <a:srgbClr val="212121"/>
                </a:solidFill>
                <a:latin typeface="Open Sans" pitchFamily="34" charset="0"/>
                <a:ea typeface="Open Sans" pitchFamily="34" charset="-122"/>
                <a:cs typeface="Open Sans" pitchFamily="34" charset="-120"/>
              </a:rPr>
              <a:t>Il Comune non rifà nulla: YesMilano resta la fonte.</a:t>
            </a:r>
            <a:endParaRPr lang="en-US" sz="1300" dirty="0"/>
          </a:p>
        </p:txBody>
      </p:sp>
      <p:sp>
        <p:nvSpPr>
          <p:cNvPr id="9" name="Text 6"/>
          <p:cNvSpPr/>
          <p:nvPr/>
        </p:nvSpPr>
        <p:spPr>
          <a:xfrm>
            <a:off x="548640" y="3429000"/>
            <a:ext cx="2743200" cy="219456"/>
          </a:xfrm>
          <a:prstGeom prst="rect">
            <a:avLst/>
          </a:prstGeom>
          <a:noFill/>
          <a:ln/>
        </p:spPr>
        <p:txBody>
          <a:bodyPr wrap="square" lIns="0" tIns="0" rIns="0" bIns="0" rtlCol="0" anchor="ctr"/>
          <a:lstStyle/>
          <a:p>
            <a:pPr indent="0" marL="0">
              <a:buNone/>
            </a:pPr>
            <a:r>
              <a:rPr lang="en-US" sz="850" spc="200" kern="0" dirty="0">
                <a:solidFill>
                  <a:srgbClr val="212121"/>
                </a:solidFill>
                <a:latin typeface="Open Sans SemiBold" pitchFamily="34" charset="0"/>
                <a:ea typeface="Open Sans SemiBold" pitchFamily="34" charset="-122"/>
                <a:cs typeface="Open Sans SemiBold" pitchFamily="34" charset="-120"/>
              </a:rPr>
              <a:t>IL LINK STA</a:t>
            </a:r>
            <a:endParaRPr lang="en-US" sz="850" dirty="0"/>
          </a:p>
        </p:txBody>
      </p:sp>
      <p:sp>
        <p:nvSpPr>
          <p:cNvPr id="10" name="Text 7"/>
          <p:cNvSpPr/>
          <p:nvPr/>
        </p:nvSpPr>
        <p:spPr>
          <a:xfrm>
            <a:off x="548640" y="3730752"/>
            <a:ext cx="1965960"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000" dirty="0">
                <a:solidFill>
                  <a:srgbClr val="212121"/>
                </a:solidFill>
                <a:latin typeface="Open Sans SemiBold" pitchFamily="34" charset="0"/>
                <a:ea typeface="Open Sans SemiBold" pitchFamily="34" charset="-122"/>
                <a:cs typeface="Open Sans SemiBold" pitchFamily="34" charset="-120"/>
              </a:rPr>
              <a:t>nell'email di benvenuto</a:t>
            </a:r>
            <a:endParaRPr lang="en-US" sz="1000" dirty="0"/>
          </a:p>
        </p:txBody>
      </p:sp>
      <p:sp>
        <p:nvSpPr>
          <p:cNvPr id="11" name="Text 8"/>
          <p:cNvSpPr/>
          <p:nvPr/>
        </p:nvSpPr>
        <p:spPr>
          <a:xfrm>
            <a:off x="2651760" y="3730752"/>
            <a:ext cx="1234440"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000" dirty="0">
                <a:solidFill>
                  <a:srgbClr val="212121"/>
                </a:solidFill>
                <a:latin typeface="Open Sans SemiBold" pitchFamily="34" charset="0"/>
                <a:ea typeface="Open Sans SemiBold" pitchFamily="34" charset="-122"/>
                <a:cs typeface="Open Sans SemiBold" pitchFamily="34" charset="-120"/>
              </a:rPr>
              <a:t>su YesMilano</a:t>
            </a:r>
            <a:endParaRPr lang="en-US" sz="1000" dirty="0"/>
          </a:p>
        </p:txBody>
      </p:sp>
      <p:sp>
        <p:nvSpPr>
          <p:cNvPr id="12" name="Text 9"/>
          <p:cNvSpPr/>
          <p:nvPr/>
        </p:nvSpPr>
        <p:spPr>
          <a:xfrm>
            <a:off x="5349240" y="868680"/>
            <a:ext cx="3291840" cy="237744"/>
          </a:xfrm>
          <a:prstGeom prst="rect">
            <a:avLst/>
          </a:prstGeom>
          <a:noFill/>
          <a:ln/>
        </p:spPr>
        <p:txBody>
          <a:bodyPr wrap="square" lIns="0" tIns="0" rIns="0" bIns="0" rtlCol="0" anchor="ctr"/>
          <a:lstStyle/>
          <a:p>
            <a:pPr indent="0" marL="0">
              <a:buNone/>
            </a:pPr>
            <a:r>
              <a:rPr lang="en-US" sz="900" spc="200" kern="0" dirty="0">
                <a:solidFill>
                  <a:srgbClr val="6B6B6B"/>
                </a:solidFill>
                <a:latin typeface="Open Sans SemiBold" pitchFamily="34" charset="0"/>
                <a:ea typeface="Open Sans SemiBold" pitchFamily="34" charset="-122"/>
                <a:cs typeface="Open Sans SemiBold" pitchFamily="34" charset="-120"/>
              </a:rPr>
              <a:t>DATI CHE SERVIREBBERO</a:t>
            </a:r>
            <a:endParaRPr lang="en-US" sz="900" dirty="0"/>
          </a:p>
        </p:txBody>
      </p:sp>
      <p:sp>
        <p:nvSpPr>
          <p:cNvPr id="13" name="Text 10"/>
          <p:cNvSpPr/>
          <p:nvPr/>
        </p:nvSpPr>
        <p:spPr>
          <a:xfrm>
            <a:off x="5349240" y="1316736"/>
            <a:ext cx="502920" cy="548640"/>
          </a:xfrm>
          <a:prstGeom prst="rect">
            <a:avLst/>
          </a:prstGeom>
          <a:noFill/>
          <a:ln/>
        </p:spPr>
        <p:txBody>
          <a:bodyPr wrap="square" lIns="0" tIns="0" rIns="0" bIns="0" rtlCol="0" anchor="t"/>
          <a:lstStyle/>
          <a:p>
            <a:pPr indent="0" marL="0">
              <a:buNone/>
            </a:pPr>
            <a:r>
              <a:rPr lang="en-US" sz="3000" dirty="0">
                <a:solidFill>
                  <a:srgbClr val="ED703D"/>
                </a:solidFill>
                <a:latin typeface="Open Sans ExtraBold" pitchFamily="34" charset="0"/>
                <a:ea typeface="Open Sans ExtraBold" pitchFamily="34" charset="-122"/>
                <a:cs typeface="Open Sans ExtraBold" pitchFamily="34" charset="-120"/>
              </a:rPr>
              <a:t>1</a:t>
            </a:r>
            <a:endParaRPr lang="en-US" sz="3000" dirty="0"/>
          </a:p>
        </p:txBody>
      </p:sp>
      <p:sp>
        <p:nvSpPr>
          <p:cNvPr id="14" name="Text 11"/>
          <p:cNvSpPr/>
          <p:nvPr/>
        </p:nvSpPr>
        <p:spPr>
          <a:xfrm>
            <a:off x="5897880" y="1371600"/>
            <a:ext cx="2743200" cy="292608"/>
          </a:xfrm>
          <a:prstGeom prst="rect">
            <a:avLst/>
          </a:prstGeom>
          <a:noFill/>
          <a:ln/>
        </p:spPr>
        <p:txBody>
          <a:bodyPr wrap="square" lIns="0" tIns="0" rIns="0" bIns="0" rtlCol="0" anchor="t"/>
          <a:lstStyle/>
          <a:p>
            <a:pPr indent="0" marL="0">
              <a:buNone/>
            </a:pPr>
            <a:r>
              <a:rPr lang="en-US" sz="1350" dirty="0">
                <a:solidFill>
                  <a:srgbClr val="212121"/>
                </a:solidFill>
                <a:latin typeface="Open Sans SemiBold" pitchFamily="34" charset="0"/>
                <a:ea typeface="Open Sans SemiBold" pitchFamily="34" charset="-122"/>
                <a:cs typeface="Open Sans SemiBold" pitchFamily="34" charset="-120"/>
              </a:rPr>
              <a:t>SPID o CIE, e ANPR via PDND</a:t>
            </a:r>
            <a:endParaRPr lang="en-US" sz="1350" dirty="0"/>
          </a:p>
        </p:txBody>
      </p:sp>
      <p:sp>
        <p:nvSpPr>
          <p:cNvPr id="15" name="Text 12"/>
          <p:cNvSpPr/>
          <p:nvPr/>
        </p:nvSpPr>
        <p:spPr>
          <a:xfrm>
            <a:off x="5897880" y="1700784"/>
            <a:ext cx="2743200" cy="411480"/>
          </a:xfrm>
          <a:prstGeom prst="rect">
            <a:avLst/>
          </a:prstGeom>
          <a:noFill/>
          <a:ln/>
        </p:spPr>
        <p:txBody>
          <a:bodyPr wrap="square" lIns="0" tIns="0" rIns="0" bIns="0" rtlCol="0" anchor="t"/>
          <a:lstStyle/>
          <a:p>
            <a:pPr indent="0" marL="0">
              <a:buNone/>
            </a:pPr>
            <a:r>
              <a:rPr lang="en-US" sz="1050" dirty="0">
                <a:solidFill>
                  <a:srgbClr val="6B6B6B"/>
                </a:solidFill>
                <a:latin typeface="Open Sans" pitchFamily="34" charset="0"/>
                <a:ea typeface="Open Sans" pitchFamily="34" charset="-122"/>
                <a:cs typeface="Open Sans" pitchFamily="34" charset="-120"/>
              </a:rPr>
              <a:t>Once-only: la PA non chiede di nuovo quello che sa</a:t>
            </a:r>
            <a:endParaRPr lang="en-US" sz="1050" dirty="0"/>
          </a:p>
        </p:txBody>
      </p:sp>
      <p:sp>
        <p:nvSpPr>
          <p:cNvPr id="16" name="Shape 13"/>
          <p:cNvSpPr/>
          <p:nvPr/>
        </p:nvSpPr>
        <p:spPr>
          <a:xfrm>
            <a:off x="5349240" y="2331720"/>
            <a:ext cx="3291840" cy="0"/>
          </a:xfrm>
          <a:prstGeom prst="line">
            <a:avLst/>
          </a:prstGeom>
          <a:noFill/>
          <a:ln w="9525">
            <a:solidFill>
              <a:srgbClr val="E6E6E0"/>
            </a:solidFill>
            <a:prstDash val="solid"/>
          </a:ln>
        </p:spPr>
      </p:sp>
      <p:sp>
        <p:nvSpPr>
          <p:cNvPr id="17" name="Text 14"/>
          <p:cNvSpPr/>
          <p:nvPr/>
        </p:nvSpPr>
        <p:spPr>
          <a:xfrm>
            <a:off x="5349240" y="2459736"/>
            <a:ext cx="502920" cy="548640"/>
          </a:xfrm>
          <a:prstGeom prst="rect">
            <a:avLst/>
          </a:prstGeom>
          <a:noFill/>
          <a:ln/>
        </p:spPr>
        <p:txBody>
          <a:bodyPr wrap="square" lIns="0" tIns="0" rIns="0" bIns="0" rtlCol="0" anchor="t"/>
          <a:lstStyle/>
          <a:p>
            <a:pPr indent="0" marL="0">
              <a:buNone/>
            </a:pPr>
            <a:r>
              <a:rPr lang="en-US" sz="3000" dirty="0">
                <a:solidFill>
                  <a:srgbClr val="ED703D"/>
                </a:solidFill>
                <a:latin typeface="Open Sans ExtraBold" pitchFamily="34" charset="0"/>
                <a:ea typeface="Open Sans ExtraBold" pitchFamily="34" charset="-122"/>
                <a:cs typeface="Open Sans ExtraBold" pitchFamily="34" charset="-120"/>
              </a:rPr>
              <a:t>2</a:t>
            </a:r>
            <a:endParaRPr lang="en-US" sz="3000" dirty="0"/>
          </a:p>
        </p:txBody>
      </p:sp>
      <p:sp>
        <p:nvSpPr>
          <p:cNvPr id="18" name="Text 15"/>
          <p:cNvSpPr/>
          <p:nvPr/>
        </p:nvSpPr>
        <p:spPr>
          <a:xfrm>
            <a:off x="5897880" y="2514600"/>
            <a:ext cx="2743200" cy="292608"/>
          </a:xfrm>
          <a:prstGeom prst="rect">
            <a:avLst/>
          </a:prstGeom>
          <a:noFill/>
          <a:ln/>
        </p:spPr>
        <p:txBody>
          <a:bodyPr wrap="square" lIns="0" tIns="0" rIns="0" bIns="0" rtlCol="0" anchor="t"/>
          <a:lstStyle/>
          <a:p>
            <a:pPr indent="0" marL="0">
              <a:buNone/>
            </a:pPr>
            <a:r>
              <a:rPr lang="en-US" sz="1350" dirty="0">
                <a:solidFill>
                  <a:srgbClr val="212121"/>
                </a:solidFill>
                <a:latin typeface="Open Sans SemiBold" pitchFamily="34" charset="0"/>
                <a:ea typeface="Open Sans SemiBold" pitchFamily="34" charset="-122"/>
                <a:cs typeface="Open Sans SemiBold" pitchFamily="34" charset="-120"/>
              </a:rPr>
              <a:t>Un feed unico degli eventi</a:t>
            </a:r>
            <a:endParaRPr lang="en-US" sz="1350" dirty="0"/>
          </a:p>
        </p:txBody>
      </p:sp>
      <p:sp>
        <p:nvSpPr>
          <p:cNvPr id="19" name="Text 16"/>
          <p:cNvSpPr/>
          <p:nvPr/>
        </p:nvSpPr>
        <p:spPr>
          <a:xfrm>
            <a:off x="5897880" y="2843784"/>
            <a:ext cx="2743200" cy="411480"/>
          </a:xfrm>
          <a:prstGeom prst="rect">
            <a:avLst/>
          </a:prstGeom>
          <a:noFill/>
          <a:ln/>
        </p:spPr>
        <p:txBody>
          <a:bodyPr wrap="square" lIns="0" tIns="0" rIns="0" bIns="0" rtlCol="0" anchor="t"/>
          <a:lstStyle/>
          <a:p>
            <a:pPr indent="0" marL="0">
              <a:buNone/>
            </a:pPr>
            <a:r>
              <a:rPr lang="en-US" sz="1050" dirty="0">
                <a:solidFill>
                  <a:srgbClr val="6B6B6B"/>
                </a:solidFill>
                <a:latin typeface="Open Sans" pitchFamily="34" charset="0"/>
                <a:ea typeface="Open Sans" pitchFamily="34" charset="-122"/>
                <a:cs typeface="Open Sans" pitchFamily="34" charset="-120"/>
              </a:rPr>
              <a:t>Oggi negli open data del Comune non c'è</a:t>
            </a:r>
            <a:endParaRPr lang="en-US" sz="1050" dirty="0"/>
          </a:p>
        </p:txBody>
      </p:sp>
      <p:sp>
        <p:nvSpPr>
          <p:cNvPr id="20" name="Shape 17"/>
          <p:cNvSpPr/>
          <p:nvPr/>
        </p:nvSpPr>
        <p:spPr>
          <a:xfrm>
            <a:off x="5349240" y="3474720"/>
            <a:ext cx="3291840" cy="0"/>
          </a:xfrm>
          <a:prstGeom prst="line">
            <a:avLst/>
          </a:prstGeom>
          <a:noFill/>
          <a:ln w="9525">
            <a:solidFill>
              <a:srgbClr val="E6E6E0"/>
            </a:solidFill>
            <a:prstDash val="solid"/>
          </a:ln>
        </p:spPr>
      </p:sp>
      <p:sp>
        <p:nvSpPr>
          <p:cNvPr id="21" name="Text 18"/>
          <p:cNvSpPr/>
          <p:nvPr/>
        </p:nvSpPr>
        <p:spPr>
          <a:xfrm>
            <a:off x="5349240" y="3602736"/>
            <a:ext cx="502920" cy="548640"/>
          </a:xfrm>
          <a:prstGeom prst="rect">
            <a:avLst/>
          </a:prstGeom>
          <a:noFill/>
          <a:ln/>
        </p:spPr>
        <p:txBody>
          <a:bodyPr wrap="square" lIns="0" tIns="0" rIns="0" bIns="0" rtlCol="0" anchor="t"/>
          <a:lstStyle/>
          <a:p>
            <a:pPr indent="0" marL="0">
              <a:buNone/>
            </a:pPr>
            <a:r>
              <a:rPr lang="en-US" sz="3000" dirty="0">
                <a:solidFill>
                  <a:srgbClr val="ED703D"/>
                </a:solidFill>
                <a:latin typeface="Open Sans ExtraBold" pitchFamily="34" charset="0"/>
                <a:ea typeface="Open Sans ExtraBold" pitchFamily="34" charset="-122"/>
                <a:cs typeface="Open Sans ExtraBold" pitchFamily="34" charset="-120"/>
              </a:rPr>
              <a:t>3</a:t>
            </a:r>
            <a:endParaRPr lang="en-US" sz="3000" dirty="0"/>
          </a:p>
        </p:txBody>
      </p:sp>
      <p:sp>
        <p:nvSpPr>
          <p:cNvPr id="22" name="Text 19"/>
          <p:cNvSpPr/>
          <p:nvPr/>
        </p:nvSpPr>
        <p:spPr>
          <a:xfrm>
            <a:off x="5897880" y="3657600"/>
            <a:ext cx="2743200" cy="292608"/>
          </a:xfrm>
          <a:prstGeom prst="rect">
            <a:avLst/>
          </a:prstGeom>
          <a:noFill/>
          <a:ln/>
        </p:spPr>
        <p:txBody>
          <a:bodyPr wrap="square" lIns="0" tIns="0" rIns="0" bIns="0" rtlCol="0" anchor="t"/>
          <a:lstStyle/>
          <a:p>
            <a:pPr indent="0" marL="0">
              <a:buNone/>
            </a:pPr>
            <a:r>
              <a:rPr lang="en-US" sz="1350" dirty="0">
                <a:solidFill>
                  <a:srgbClr val="212121"/>
                </a:solidFill>
                <a:latin typeface="Open Sans SemiBold" pitchFamily="34" charset="0"/>
                <a:ea typeface="Open Sans SemiBold" pitchFamily="34" charset="-122"/>
                <a:cs typeface="Open Sans SemiBold" pitchFamily="34" charset="-120"/>
              </a:rPr>
              <a:t>Il consenso della persona</a:t>
            </a:r>
            <a:endParaRPr lang="en-US" sz="1350" dirty="0"/>
          </a:p>
        </p:txBody>
      </p:sp>
      <p:sp>
        <p:nvSpPr>
          <p:cNvPr id="23" name="Text 20"/>
          <p:cNvSpPr/>
          <p:nvPr/>
        </p:nvSpPr>
        <p:spPr>
          <a:xfrm>
            <a:off x="5897880" y="3986784"/>
            <a:ext cx="2743200" cy="411480"/>
          </a:xfrm>
          <a:prstGeom prst="rect">
            <a:avLst/>
          </a:prstGeom>
          <a:noFill/>
          <a:ln/>
        </p:spPr>
        <p:txBody>
          <a:bodyPr wrap="square" lIns="0" tIns="0" rIns="0" bIns="0" rtlCol="0" anchor="t"/>
          <a:lstStyle/>
          <a:p>
            <a:pPr indent="0" marL="0">
              <a:buNone/>
            </a:pPr>
            <a:r>
              <a:rPr lang="en-US" sz="1050" dirty="0">
                <a:solidFill>
                  <a:srgbClr val="6B6B6B"/>
                </a:solidFill>
                <a:latin typeface="Open Sans" pitchFamily="34" charset="0"/>
                <a:ea typeface="Open Sans" pitchFamily="34" charset="-122"/>
                <a:cs typeface="Open Sans" pitchFamily="34" charset="-120"/>
              </a:rPr>
              <a:t>Per farsi trovare dalle aziende, se lo vuole lei</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7"/>
        </a:solidFill>
      </p:bgPr>
    </p:bg>
    <p:spTree>
      <p:nvGrpSpPr>
        <p:cNvPr id="1" name=""/>
        <p:cNvGrpSpPr/>
        <p:nvPr/>
      </p:nvGrpSpPr>
      <p:grpSpPr>
        <a:xfrm>
          <a:off x="0" y="0"/>
          <a:ext cx="0" cy="0"/>
          <a:chOff x="0" y="0"/>
          <a:chExt cx="0" cy="0"/>
        </a:xfrm>
      </p:grpSpPr>
      <p:sp>
        <p:nvSpPr>
          <p:cNvPr id="2" name="Text 0"/>
          <p:cNvSpPr/>
          <p:nvPr/>
        </p:nvSpPr>
        <p:spPr>
          <a:xfrm>
            <a:off x="548640" y="274320"/>
            <a:ext cx="4572000" cy="237744"/>
          </a:xfrm>
          <a:prstGeom prst="rect">
            <a:avLst/>
          </a:prstGeom>
          <a:noFill/>
          <a:ln/>
        </p:spPr>
        <p:txBody>
          <a:bodyPr wrap="square" lIns="0" tIns="0" rIns="0" bIns="0" rtlCol="0" anchor="ctr"/>
          <a:lstStyle/>
          <a:p>
            <a:pPr indent="0" marL="0">
              <a:buNone/>
            </a:pPr>
            <a:r>
              <a:rPr lang="en-US" sz="900" spc="200" kern="0" dirty="0">
                <a:solidFill>
                  <a:srgbClr val="212121"/>
                </a:solidFill>
                <a:latin typeface="Open Sans SemiBold" pitchFamily="34" charset="0"/>
                <a:ea typeface="Open Sans SemiBold" pitchFamily="34" charset="-122"/>
                <a:cs typeface="Open Sans SemiBold" pitchFamily="34" charset="-120"/>
              </a:rPr>
              <a:t>RISERVA  DOVE VA</a:t>
            </a:r>
            <a:endParaRPr lang="en-US" sz="900" dirty="0"/>
          </a:p>
        </p:txBody>
      </p:sp>
      <p:sp>
        <p:nvSpPr>
          <p:cNvPr id="3" name="Text 1"/>
          <p:cNvSpPr/>
          <p:nvPr/>
        </p:nvSpPr>
        <p:spPr>
          <a:xfrm>
            <a:off x="5943600" y="256032"/>
            <a:ext cx="2331720" cy="274320"/>
          </a:xfrm>
          <a:prstGeom prst="rect">
            <a:avLst/>
          </a:prstGeom>
          <a:noFill/>
          <a:ln/>
        </p:spPr>
        <p:txBody>
          <a:bodyPr wrap="square" lIns="0" tIns="0" rIns="0" bIns="0" rtlCol="0" anchor="ctr"/>
          <a:lstStyle/>
          <a:p>
            <a:pPr algn="r" indent="0" marL="0">
              <a:buNone/>
            </a:pPr>
            <a:r>
              <a:rPr lang="en-US" sz="1150" b="1" dirty="0">
                <a:solidFill>
                  <a:srgbClr val="212121"/>
                </a:solidFill>
                <a:latin typeface="Open Sans" pitchFamily="34" charset="0"/>
                <a:ea typeface="Open Sans" pitchFamily="34" charset="-122"/>
                <a:cs typeface="Open Sans" pitchFamily="34" charset="-120"/>
              </a:rPr>
              <a:t>GuidaMI</a:t>
            </a:r>
            <a:endParaRPr lang="en-US" sz="1150" dirty="0"/>
          </a:p>
        </p:txBody>
      </p:sp>
      <p:pic>
        <p:nvPicPr>
          <p:cNvPr id="4" name="Image 0" descr="/home/thomas/milano-evolution/design/logo/azzurro/icon-A.png">    </p:cNvPr>
          <p:cNvPicPr>
            <a:picLocks noChangeAspect="1"/>
          </p:cNvPicPr>
          <p:nvPr/>
        </p:nvPicPr>
        <p:blipFill>
          <a:blip r:embed="rId1"/>
          <a:stretch>
            <a:fillRect/>
          </a:stretch>
        </p:blipFill>
        <p:spPr>
          <a:xfrm>
            <a:off x="8339328" y="246888"/>
            <a:ext cx="292608" cy="292608"/>
          </a:xfrm>
          <a:prstGeom prst="rect">
            <a:avLst/>
          </a:prstGeom>
        </p:spPr>
      </p:pic>
      <p:sp>
        <p:nvSpPr>
          <p:cNvPr id="5" name="Text 2"/>
          <p:cNvSpPr/>
          <p:nvPr/>
        </p:nvSpPr>
        <p:spPr>
          <a:xfrm>
            <a:off x="548640" y="731520"/>
            <a:ext cx="6858000" cy="594360"/>
          </a:xfrm>
          <a:prstGeom prst="rect">
            <a:avLst/>
          </a:prstGeom>
          <a:noFill/>
          <a:ln/>
        </p:spPr>
        <p:txBody>
          <a:bodyPr wrap="square" lIns="0" tIns="0" rIns="0" bIns="0" rtlCol="0" anchor="t"/>
          <a:lstStyle/>
          <a:p>
            <a:pPr indent="0" marL="0">
              <a:lnSpc>
                <a:spcPct val="95000"/>
              </a:lnSpc>
              <a:buNone/>
            </a:pPr>
            <a:r>
              <a:rPr lang="en-US" sz="3000" dirty="0">
                <a:solidFill>
                  <a:srgbClr val="212121"/>
                </a:solidFill>
                <a:latin typeface="Open Sans ExtraBold" pitchFamily="34" charset="0"/>
                <a:ea typeface="Open Sans ExtraBold" pitchFamily="34" charset="-122"/>
                <a:cs typeface="Open Sans ExtraBold" pitchFamily="34" charset="-120"/>
              </a:rPr>
              <a:t>Poi Nour resta a Milano.</a:t>
            </a:r>
            <a:endParaRPr lang="en-US" sz="3000" dirty="0"/>
          </a:p>
        </p:txBody>
      </p:sp>
      <p:sp>
        <p:nvSpPr>
          <p:cNvPr id="6" name="Shape 3"/>
          <p:cNvSpPr/>
          <p:nvPr/>
        </p:nvSpPr>
        <p:spPr>
          <a:xfrm>
            <a:off x="548640" y="1600200"/>
            <a:ext cx="2560320" cy="2880360"/>
          </a:xfrm>
          <a:prstGeom prst="rect">
            <a:avLst/>
          </a:prstGeom>
          <a:solidFill>
            <a:srgbClr val="FFFFFF"/>
          </a:solidFill>
          <a:ln w="9525">
            <a:solidFill>
              <a:srgbClr val="E6E6E0"/>
            </a:solidFill>
            <a:prstDash val="solid"/>
          </a:ln>
        </p:spPr>
      </p:sp>
      <p:sp>
        <p:nvSpPr>
          <p:cNvPr id="7" name="Shape 4"/>
          <p:cNvSpPr/>
          <p:nvPr/>
        </p:nvSpPr>
        <p:spPr>
          <a:xfrm>
            <a:off x="548640" y="1600200"/>
            <a:ext cx="2560320" cy="82296"/>
          </a:xfrm>
          <a:prstGeom prst="rect">
            <a:avLst/>
          </a:prstGeom>
          <a:solidFill>
            <a:srgbClr val="FFC000"/>
          </a:solidFill>
          <a:ln w="12700">
            <a:solidFill>
              <a:srgbClr val="FFC000"/>
            </a:solidFill>
            <a:prstDash val="solid"/>
          </a:ln>
        </p:spPr>
      </p:sp>
      <p:pic>
        <p:nvPicPr>
          <p:cNvPr id="8" name="Image 1" descr="/home/thomas/milano-evolution/web/public/icons3d/taxcode.png">    </p:cNvPr>
          <p:cNvPicPr>
            <a:picLocks noChangeAspect="1"/>
          </p:cNvPicPr>
          <p:nvPr/>
        </p:nvPicPr>
        <p:blipFill>
          <a:blip r:embed="rId2"/>
          <a:stretch>
            <a:fillRect/>
          </a:stretch>
        </p:blipFill>
        <p:spPr>
          <a:xfrm>
            <a:off x="1115568" y="1801368"/>
            <a:ext cx="1426464" cy="1426464"/>
          </a:xfrm>
          <a:prstGeom prst="rect">
            <a:avLst/>
          </a:prstGeom>
        </p:spPr>
      </p:pic>
      <p:sp>
        <p:nvSpPr>
          <p:cNvPr id="9" name="Text 5"/>
          <p:cNvSpPr/>
          <p:nvPr/>
        </p:nvSpPr>
        <p:spPr>
          <a:xfrm>
            <a:off x="685800" y="1819656"/>
            <a:ext cx="868680" cy="219456"/>
          </a:xfrm>
          <a:prstGeom prst="roundRect">
            <a:avLst>
              <a:gd name="adj" fmla="val 75000"/>
            </a:avLst>
          </a:prstGeom>
          <a:solidFill>
            <a:srgbClr val="FFC000"/>
          </a:solidFill>
          <a:ln>
            <a:solidFill>
              <a:srgbClr val="FFC000"/>
            </a:solidFill>
          </a:ln>
        </p:spPr>
        <p:txBody>
          <a:bodyPr wrap="square" lIns="0" tIns="0" rIns="0" bIns="0" rtlCol="0" anchor="ctr"/>
          <a:lstStyle/>
          <a:p>
            <a:pPr algn="ctr" indent="0" marL="0">
              <a:buNone/>
            </a:pPr>
            <a:r>
              <a:rPr lang="en-US" sz="700" spc="100" kern="0" dirty="0">
                <a:solidFill>
                  <a:srgbClr val="212121"/>
                </a:solidFill>
                <a:latin typeface="Open Sans SemiBold" pitchFamily="34" charset="0"/>
                <a:ea typeface="Open Sans SemiBold" pitchFamily="34" charset="-122"/>
                <a:cs typeface="Open Sans SemiBold" pitchFamily="34" charset="-120"/>
              </a:rPr>
              <a:t>ANTEPRIMA</a:t>
            </a:r>
            <a:endParaRPr lang="en-US" sz="700" dirty="0"/>
          </a:p>
        </p:txBody>
      </p:sp>
      <p:sp>
        <p:nvSpPr>
          <p:cNvPr id="10" name="Text 6"/>
          <p:cNvSpPr/>
          <p:nvPr/>
        </p:nvSpPr>
        <p:spPr>
          <a:xfrm>
            <a:off x="749808" y="3383280"/>
            <a:ext cx="2194560" cy="310896"/>
          </a:xfrm>
          <a:prstGeom prst="rect">
            <a:avLst/>
          </a:prstGeom>
          <a:noFill/>
          <a:ln/>
        </p:spPr>
        <p:txBody>
          <a:bodyPr wrap="square" lIns="0" tIns="0" rIns="0" bIns="0" rtlCol="0" anchor="t"/>
          <a:lstStyle/>
          <a:p>
            <a:pPr indent="0" marL="0">
              <a:buNone/>
            </a:pPr>
            <a:r>
              <a:rPr lang="en-US" sz="1500" dirty="0">
                <a:solidFill>
                  <a:srgbClr val="212121"/>
                </a:solidFill>
                <a:latin typeface="Open Sans ExtraBold" pitchFamily="34" charset="0"/>
                <a:ea typeface="Open Sans ExtraBold" pitchFamily="34" charset="-122"/>
                <a:cs typeface="Open Sans ExtraBold" pitchFamily="34" charset="-120"/>
              </a:rPr>
              <a:t>Fascicolo con SPID</a:t>
            </a:r>
            <a:endParaRPr lang="en-US" sz="1500" dirty="0"/>
          </a:p>
        </p:txBody>
      </p:sp>
      <p:sp>
        <p:nvSpPr>
          <p:cNvPr id="11" name="Text 7"/>
          <p:cNvSpPr/>
          <p:nvPr/>
        </p:nvSpPr>
        <p:spPr>
          <a:xfrm>
            <a:off x="749808" y="3749040"/>
            <a:ext cx="2194560" cy="822960"/>
          </a:xfrm>
          <a:prstGeom prst="rect">
            <a:avLst/>
          </a:prstGeom>
          <a:noFill/>
          <a:ln/>
        </p:spPr>
        <p:txBody>
          <a:bodyPr wrap="square" lIns="0" tIns="0" rIns="0" bIns="0" rtlCol="0" anchor="t"/>
          <a:lstStyle/>
          <a:p>
            <a:pPr indent="0" marL="0">
              <a:buNone/>
            </a:pPr>
            <a:r>
              <a:rPr lang="en-US" sz="1050" dirty="0">
                <a:solidFill>
                  <a:srgbClr val="6B6B6B"/>
                </a:solidFill>
                <a:latin typeface="Open Sans" pitchFamily="34" charset="0"/>
                <a:ea typeface="Open Sans" pitchFamily="34" charset="-122"/>
                <a:cs typeface="Open Sans" pitchFamily="34" charset="-120"/>
              </a:rPr>
              <a:t>Con lo SPID il profilo passa al Fascicolo, una volta sola.</a:t>
            </a:r>
            <a:endParaRPr lang="en-US" sz="1050" dirty="0"/>
          </a:p>
        </p:txBody>
      </p:sp>
      <p:sp>
        <p:nvSpPr>
          <p:cNvPr id="12" name="Shape 8"/>
          <p:cNvSpPr/>
          <p:nvPr/>
        </p:nvSpPr>
        <p:spPr>
          <a:xfrm>
            <a:off x="3291840" y="1600200"/>
            <a:ext cx="2560320" cy="2880360"/>
          </a:xfrm>
          <a:prstGeom prst="rect">
            <a:avLst/>
          </a:prstGeom>
          <a:solidFill>
            <a:srgbClr val="FFFFFF"/>
          </a:solidFill>
          <a:ln w="9525">
            <a:solidFill>
              <a:srgbClr val="E6E6E0"/>
            </a:solidFill>
            <a:prstDash val="solid"/>
          </a:ln>
        </p:spPr>
      </p:sp>
      <p:sp>
        <p:nvSpPr>
          <p:cNvPr id="13" name="Shape 9"/>
          <p:cNvSpPr/>
          <p:nvPr/>
        </p:nvSpPr>
        <p:spPr>
          <a:xfrm>
            <a:off x="3291840" y="1600200"/>
            <a:ext cx="2560320" cy="82296"/>
          </a:xfrm>
          <a:prstGeom prst="rect">
            <a:avLst/>
          </a:prstGeom>
          <a:solidFill>
            <a:srgbClr val="3AC6F4"/>
          </a:solidFill>
          <a:ln w="12700">
            <a:solidFill>
              <a:srgbClr val="3AC6F4"/>
            </a:solidFill>
            <a:prstDash val="solid"/>
          </a:ln>
        </p:spPr>
      </p:sp>
      <p:pic>
        <p:nvPicPr>
          <p:cNvPr id="14" name="Image 2" descr="/home/thomas/milano-evolution/web/public/icons3d/italian.png">    </p:cNvPr>
          <p:cNvPicPr>
            <a:picLocks noChangeAspect="1"/>
          </p:cNvPicPr>
          <p:nvPr/>
        </p:nvPicPr>
        <p:blipFill>
          <a:blip r:embed="rId3"/>
          <a:stretch>
            <a:fillRect/>
          </a:stretch>
        </p:blipFill>
        <p:spPr>
          <a:xfrm>
            <a:off x="3858768" y="1801368"/>
            <a:ext cx="1426464" cy="1426464"/>
          </a:xfrm>
          <a:prstGeom prst="rect">
            <a:avLst/>
          </a:prstGeom>
        </p:spPr>
      </p:pic>
      <p:sp>
        <p:nvSpPr>
          <p:cNvPr id="15" name="Text 10"/>
          <p:cNvSpPr/>
          <p:nvPr/>
        </p:nvSpPr>
        <p:spPr>
          <a:xfrm>
            <a:off x="3429000" y="1819656"/>
            <a:ext cx="868680" cy="219456"/>
          </a:xfrm>
          <a:prstGeom prst="roundRect">
            <a:avLst>
              <a:gd name="adj" fmla="val 75000"/>
            </a:avLst>
          </a:prstGeom>
          <a:solidFill>
            <a:srgbClr val="3AC6F4"/>
          </a:solidFill>
          <a:ln>
            <a:solidFill>
              <a:srgbClr val="3AC6F4"/>
            </a:solidFill>
          </a:ln>
        </p:spPr>
        <p:txBody>
          <a:bodyPr wrap="square" lIns="0" tIns="0" rIns="0" bIns="0" rtlCol="0" anchor="ctr"/>
          <a:lstStyle/>
          <a:p>
            <a:pPr algn="ctr" indent="0" marL="0">
              <a:buNone/>
            </a:pPr>
            <a:r>
              <a:rPr lang="en-US" sz="700" spc="100" kern="0" dirty="0">
                <a:solidFill>
                  <a:srgbClr val="212121"/>
                </a:solidFill>
                <a:latin typeface="Open Sans SemiBold" pitchFamily="34" charset="0"/>
                <a:ea typeface="Open Sans SemiBold" pitchFamily="34" charset="-122"/>
                <a:cs typeface="Open Sans SemiBold" pitchFamily="34" charset="-120"/>
              </a:rPr>
              <a:t>ANTEPRIMA</a:t>
            </a:r>
            <a:endParaRPr lang="en-US" sz="700" dirty="0"/>
          </a:p>
        </p:txBody>
      </p:sp>
      <p:sp>
        <p:nvSpPr>
          <p:cNvPr id="16" name="Text 11"/>
          <p:cNvSpPr/>
          <p:nvPr/>
        </p:nvSpPr>
        <p:spPr>
          <a:xfrm>
            <a:off x="3493008" y="3383280"/>
            <a:ext cx="2194560" cy="310896"/>
          </a:xfrm>
          <a:prstGeom prst="rect">
            <a:avLst/>
          </a:prstGeom>
          <a:noFill/>
          <a:ln/>
        </p:spPr>
        <p:txBody>
          <a:bodyPr wrap="square" lIns="0" tIns="0" rIns="0" bIns="0" rtlCol="0" anchor="t"/>
          <a:lstStyle/>
          <a:p>
            <a:pPr indent="0" marL="0">
              <a:buNone/>
            </a:pPr>
            <a:r>
              <a:rPr lang="en-US" sz="1500" dirty="0">
                <a:solidFill>
                  <a:srgbClr val="212121"/>
                </a:solidFill>
                <a:latin typeface="Open Sans ExtraBold" pitchFamily="34" charset="0"/>
                <a:ea typeface="Open Sans ExtraBold" pitchFamily="34" charset="-122"/>
                <a:cs typeface="Open Sans ExtraBold" pitchFamily="34" charset="-120"/>
              </a:rPr>
              <a:t>Parlami in italiano</a:t>
            </a:r>
            <a:endParaRPr lang="en-US" sz="1500" dirty="0"/>
          </a:p>
        </p:txBody>
      </p:sp>
      <p:sp>
        <p:nvSpPr>
          <p:cNvPr id="17" name="Text 12"/>
          <p:cNvSpPr/>
          <p:nvPr/>
        </p:nvSpPr>
        <p:spPr>
          <a:xfrm>
            <a:off x="3493008" y="3749040"/>
            <a:ext cx="2194560" cy="822960"/>
          </a:xfrm>
          <a:prstGeom prst="rect">
            <a:avLst/>
          </a:prstGeom>
          <a:noFill/>
          <a:ln/>
        </p:spPr>
        <p:txBody>
          <a:bodyPr wrap="square" lIns="0" tIns="0" rIns="0" bIns="0" rtlCol="0" anchor="t"/>
          <a:lstStyle/>
          <a:p>
            <a:pPr indent="0" marL="0">
              <a:buNone/>
            </a:pPr>
            <a:r>
              <a:rPr lang="en-US" sz="1050" dirty="0">
                <a:solidFill>
                  <a:srgbClr val="6B6B6B"/>
                </a:solidFill>
                <a:latin typeface="Open Sans" pitchFamily="34" charset="0"/>
                <a:ea typeface="Open Sans" pitchFamily="34" charset="-122"/>
                <a:cs typeface="Open Sans" pitchFamily="34" charset="-120"/>
              </a:rPr>
              <a:t>Caffè con milanesi volontari. In Catalogna </a:t>
            </a:r>
            <a:pPr indent="0" marL="0">
              <a:buNone/>
            </a:pPr>
            <a:r>
              <a:rPr lang="en-US" sz="1050" dirty="0">
                <a:solidFill>
                  <a:srgbClr val="212121"/>
                </a:solidFill>
                <a:latin typeface="Open Sans SemiBold" pitchFamily="34" charset="0"/>
                <a:ea typeface="Open Sans SemiBold" pitchFamily="34" charset="-122"/>
                <a:cs typeface="Open Sans SemiBold" pitchFamily="34" charset="-120"/>
              </a:rPr>
              <a:t>oltre 170.000 coppie</a:t>
            </a:r>
            <a:pPr indent="0" marL="0">
              <a:buNone/>
            </a:pPr>
            <a:r>
              <a:rPr lang="en-US" sz="1050" dirty="0">
                <a:solidFill>
                  <a:srgbClr val="6B6B6B"/>
                </a:solidFill>
                <a:latin typeface="Open Sans" pitchFamily="34" charset="0"/>
                <a:ea typeface="Open Sans" pitchFamily="34" charset="-122"/>
                <a:cs typeface="Open Sans" pitchFamily="34" charset="-120"/>
              </a:rPr>
              <a:t>.</a:t>
            </a:r>
            <a:endParaRPr lang="en-US" sz="1050" dirty="0"/>
          </a:p>
        </p:txBody>
      </p:sp>
      <p:sp>
        <p:nvSpPr>
          <p:cNvPr id="18" name="Shape 13"/>
          <p:cNvSpPr/>
          <p:nvPr/>
        </p:nvSpPr>
        <p:spPr>
          <a:xfrm>
            <a:off x="6035040" y="1600200"/>
            <a:ext cx="2560320" cy="2880360"/>
          </a:xfrm>
          <a:prstGeom prst="rect">
            <a:avLst/>
          </a:prstGeom>
          <a:solidFill>
            <a:srgbClr val="FFFFFF"/>
          </a:solidFill>
          <a:ln w="9525">
            <a:solidFill>
              <a:srgbClr val="E6E6E0"/>
            </a:solidFill>
            <a:prstDash val="solid"/>
          </a:ln>
        </p:spPr>
      </p:sp>
      <p:sp>
        <p:nvSpPr>
          <p:cNvPr id="19" name="Shape 14"/>
          <p:cNvSpPr/>
          <p:nvPr/>
        </p:nvSpPr>
        <p:spPr>
          <a:xfrm>
            <a:off x="6035040" y="1600200"/>
            <a:ext cx="2560320" cy="82296"/>
          </a:xfrm>
          <a:prstGeom prst="rect">
            <a:avLst/>
          </a:prstGeom>
          <a:solidFill>
            <a:srgbClr val="ED703D"/>
          </a:solidFill>
          <a:ln w="12700">
            <a:solidFill>
              <a:srgbClr val="ED703D"/>
            </a:solidFill>
            <a:prstDash val="solid"/>
          </a:ln>
        </p:spPr>
      </p:sp>
      <p:pic>
        <p:nvPicPr>
          <p:cNvPr id="20" name="Image 3" descr="/home/thomas/milano-evolution/web/public/icons3d/study.png">    </p:cNvPr>
          <p:cNvPicPr>
            <a:picLocks noChangeAspect="1"/>
          </p:cNvPicPr>
          <p:nvPr/>
        </p:nvPicPr>
        <p:blipFill>
          <a:blip r:embed="rId4"/>
          <a:stretch>
            <a:fillRect/>
          </a:stretch>
        </p:blipFill>
        <p:spPr>
          <a:xfrm>
            <a:off x="6601968" y="1801368"/>
            <a:ext cx="1426464" cy="1426464"/>
          </a:xfrm>
          <a:prstGeom prst="rect">
            <a:avLst/>
          </a:prstGeom>
        </p:spPr>
      </p:pic>
      <p:sp>
        <p:nvSpPr>
          <p:cNvPr id="21" name="Text 15"/>
          <p:cNvSpPr/>
          <p:nvPr/>
        </p:nvSpPr>
        <p:spPr>
          <a:xfrm>
            <a:off x="6172200" y="1819656"/>
            <a:ext cx="868680" cy="219456"/>
          </a:xfrm>
          <a:prstGeom prst="roundRect">
            <a:avLst>
              <a:gd name="adj" fmla="val 75000"/>
            </a:avLst>
          </a:prstGeom>
          <a:solidFill>
            <a:srgbClr val="ED703D"/>
          </a:solidFill>
          <a:ln>
            <a:solidFill>
              <a:srgbClr val="ED703D"/>
            </a:solidFill>
          </a:ln>
        </p:spPr>
        <p:txBody>
          <a:bodyPr wrap="square" lIns="0" tIns="0" rIns="0" bIns="0" rtlCol="0" anchor="ctr"/>
          <a:lstStyle/>
          <a:p>
            <a:pPr algn="ctr" indent="0" marL="0">
              <a:buNone/>
            </a:pPr>
            <a:r>
              <a:rPr lang="en-US" sz="700" spc="100" kern="0" dirty="0">
                <a:solidFill>
                  <a:srgbClr val="212121"/>
                </a:solidFill>
                <a:latin typeface="Open Sans SemiBold" pitchFamily="34" charset="0"/>
                <a:ea typeface="Open Sans SemiBold" pitchFamily="34" charset="-122"/>
                <a:cs typeface="Open Sans SemiBold" pitchFamily="34" charset="-120"/>
              </a:rPr>
              <a:t>ANTEPRIMA</a:t>
            </a:r>
            <a:endParaRPr lang="en-US" sz="700" dirty="0"/>
          </a:p>
        </p:txBody>
      </p:sp>
      <p:sp>
        <p:nvSpPr>
          <p:cNvPr id="22" name="Text 16"/>
          <p:cNvSpPr/>
          <p:nvPr/>
        </p:nvSpPr>
        <p:spPr>
          <a:xfrm>
            <a:off x="6236208" y="3383280"/>
            <a:ext cx="2194560" cy="310896"/>
          </a:xfrm>
          <a:prstGeom prst="rect">
            <a:avLst/>
          </a:prstGeom>
          <a:noFill/>
          <a:ln/>
        </p:spPr>
        <p:txBody>
          <a:bodyPr wrap="square" lIns="0" tIns="0" rIns="0" bIns="0" rtlCol="0" anchor="t"/>
          <a:lstStyle/>
          <a:p>
            <a:pPr indent="0" marL="0">
              <a:buNone/>
            </a:pPr>
            <a:r>
              <a:rPr lang="en-US" sz="1500" dirty="0">
                <a:solidFill>
                  <a:srgbClr val="212121"/>
                </a:solidFill>
                <a:latin typeface="Open Sans ExtraBold" pitchFamily="34" charset="0"/>
                <a:ea typeface="Open Sans ExtraBold" pitchFamily="34" charset="-122"/>
                <a:cs typeface="Open Sans ExtraBold" pitchFamily="34" charset="-120"/>
              </a:rPr>
              <a:t>Talent card</a:t>
            </a:r>
            <a:endParaRPr lang="en-US" sz="1500" dirty="0"/>
          </a:p>
        </p:txBody>
      </p:sp>
      <p:sp>
        <p:nvSpPr>
          <p:cNvPr id="23" name="Text 17"/>
          <p:cNvSpPr/>
          <p:nvPr/>
        </p:nvSpPr>
        <p:spPr>
          <a:xfrm>
            <a:off x="6236208" y="3749040"/>
            <a:ext cx="2194560" cy="822960"/>
          </a:xfrm>
          <a:prstGeom prst="rect">
            <a:avLst/>
          </a:prstGeom>
          <a:noFill/>
          <a:ln/>
        </p:spPr>
        <p:txBody>
          <a:bodyPr wrap="square" lIns="0" tIns="0" rIns="0" bIns="0" rtlCol="0" anchor="t"/>
          <a:lstStyle/>
          <a:p>
            <a:pPr indent="0" marL="0">
              <a:buNone/>
            </a:pPr>
            <a:r>
              <a:rPr lang="en-US" sz="1050" dirty="0">
                <a:solidFill>
                  <a:srgbClr val="6B6B6B"/>
                </a:solidFill>
                <a:latin typeface="Open Sans" pitchFamily="34" charset="0"/>
                <a:ea typeface="Open Sans" pitchFamily="34" charset="-122"/>
                <a:cs typeface="Open Sans" pitchFamily="34" charset="-120"/>
              </a:rPr>
              <a:t>Con il suo consenso le aziende la trovano prima della laurea.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GuidaMI</dc:title>
  <dc:subject>PptxGenJS Presentation</dc:subject>
  <dc:creator>PptxGenJS</dc:creator>
  <cp:lastModifiedBy>PptxGenJS</cp:lastModifiedBy>
  <cp:revision>1</cp:revision>
  <dcterms:created xsi:type="dcterms:W3CDTF">2026-10-03T13:12:31Z</dcterms:created>
  <dcterms:modified xsi:type="dcterms:W3CDTF">2026-10-03T13:12:31Z</dcterms:modified>
</cp:coreProperties>
</file>