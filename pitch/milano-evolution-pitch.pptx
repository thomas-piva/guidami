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5143500" cy="9144000"/>
  <p:embeddedFontLst>
    <p:embeddedFont>
      <p:font typeface="Inter" panose="02000503000000020004" pitchFamily="2" charset="0"/>
      <p:regular r:id="rId8"/>
      <p:bold r:id="rId9"/>
    </p:embeddedFont>
    <p:embeddedFont>
      <p:font typeface="Inter Medium" panose="02000603000000020004" pitchFamily="2" charset="0"/>
      <p:regular r:id="rId10"/>
    </p:embeddedFont>
    <p:embeddedFont>
      <p:font typeface="Inter SemiBold" panose="02000703000000020004" pitchFamily="2" charset="0"/>
      <p:bold r:id="rId1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6790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secondi]
Nour è appena arrivata a Milano per studiare. Per sapere cosa fare deve leggere decine di pagine su cinque siti, metà in italiano. Solo il 16% degli studenti in mobilità si sente pienamente integrato. Il 39% dei laureati internazionali del Politecnico lascia l'Italia entro un anno. Intanto le imprese milanesi faticano a trovare quasi un profilo su due.
Fonti (segnate ok in fonti-e-dati.md): ESNsurvey 2021 (16% completamente integrati, 55% in nessun gruppo); Politecnico di Milano, indagine occupazionale 2025 (61% dei laureati internazionali in Italia a un anno, quindi 39% fuori); Assolombarda, rapporto 2025 (45,6% dei profili difficili da reperire, STEM 67,5%).
Schermate reali di yesmilano.it/en/study/how-to/rents e comune.milano.it/argomenti/anagrafe catturate il 3/10/2026.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secondi, sopra il video o la demo dal vivo]
Con Milano Evolution Nour non apre mai un portale. Tocca Inizia e la guida la saluta in italiano. Lei risponde in inglese e la guida passa all'inglese. Mentre parla, la scheda si riempie da sola: appena arrivata, extra UE, cosa le piace, cosa la preoccupa. Poi una prova d'italiano: lei dice 4, la guida verifica 2.
Nour dice: devo affittare una stanza. Claude legge dal vivo le guide ufficiali di YesMilano e le spunta una per una. Il piano arriva in ordine: codice fiscale, cercare casa senza truffe, contratto registrato, residenza entro 20 giorni, TARI entro 90. Ogni passo ha la sua fonte.
Sul codice fiscale tocca «Compilalo per me». Fotografa il passaporto, controlla i campi e scarica il modulo AA4/8 già compilato. Lo firma lei.
Inquadrate il QR e provatela.
Il riquadro «QR app» è un segnaposto: va sostituito con il QR del link dell'app dal vivo. Schermate dai mockup approvati (design/mockups/index.html); passaporto SPECIMEN con dati finti.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secondi]
Claude lavora a ogni uso. Nella voce c'è Claude Haiku: capisce cosa serve a Nour e compila la scheda mentre lei parla. Claude Sonnet legge le guide ufficiali e gli open data del Comune, costruisce il piano con le fonti e legge il passaporto per compilare i moduli. Le decisioni restano a Nour: conferma i dati, firma i moduli e può spegnere la voce quando vuole.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secondi]
Per accenderla il Comune non deve rifare nulla. Basta un link nell'email di benvenuto e sulle pagine di YesMilano, che restano la fonte. Per fare di più servirebbero tre cose: l'accesso con SPID o CIE e i dati ANPR via PDND, così la PA non chiede due volte quello che sa già; un feed unico degli eventi; il consenso della persona per farsi trovare dalle aziende.
Riferimenti: PDND e-service ANPR C020, C021, C030 (circolare DAIT 73/2023); once-only art. 50 CAD e Reg. UE 2018/1724. Nessun feed ufficiale degli eventi negli open data CKAN del Comune (fonti-e-dati.md, sezione 7).</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[riserva, solo se c'è tempo o per le domande]
Ecco dove va. Fascicolo con SPID: quando Nour ha lo SPID, il profilo passa al Fascicolo del Cittadino una volta sola. Parlami in italiano: un caffè di conversazione con milanesi volontari, sul modello catalano Voluntariat per la Llengua, oltre 170.000 coppie dal 2003. Talent card: con il suo consenso le aziende milanesi la trovano prima della laurea, contro la fuga dei talenti.
Da verificare: «oltre 170.000 coppie» (govern.cat 2014-2015, cpnl.cat 2024) non è nella tabella dei numeri segnati ok. Le tre anteprime nell'app sono schermate cablate con dati finti.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65760"/>
            <a:ext cx="5486400" cy="237744"/>
          </a:xfrm>
          <a:prstGeom prst="rect">
            <a:avLst/>
          </a:prstGeom>
          <a:noFill/>
          <a:ln/>
        </p:spPr>
        <p:txBody>
          <a:bodyPr wrap="square" lIns="0" tIns="0" rIns="0" bIns="0" rtlCol="0" anchor="ctr"/>
          <a:lstStyle/>
          <a:p>
            <a:pPr marL="0" indent="0">
              <a:buNone/>
            </a:pPr>
            <a:r>
              <a:rPr lang="en-US" sz="1100" dirty="0">
                <a:solidFill>
                  <a:srgbClr val="6A6A6A"/>
                </a:solidFill>
                <a:latin typeface="Inter Medium" pitchFamily="34" charset="0"/>
                <a:ea typeface="Inter Medium" pitchFamily="34" charset="-122"/>
                <a:cs typeface="Inter Medium" pitchFamily="34" charset="-120"/>
              </a:rPr>
              <a:t>Il problema</a:t>
            </a:r>
            <a:endParaRPr lang="en-US" sz="1100" dirty="0"/>
          </a:p>
        </p:txBody>
      </p:sp>
      <p:sp>
        <p:nvSpPr>
          <p:cNvPr id="3" name="Text 1"/>
          <p:cNvSpPr/>
          <p:nvPr/>
        </p:nvSpPr>
        <p:spPr>
          <a:xfrm>
            <a:off x="5852160" y="347472"/>
            <a:ext cx="2468880" cy="274320"/>
          </a:xfrm>
          <a:prstGeom prst="rect">
            <a:avLst/>
          </a:prstGeom>
          <a:noFill/>
          <a:ln/>
        </p:spPr>
        <p:txBody>
          <a:bodyPr wrap="square" lIns="0" tIns="0" rIns="0" bIns="0" rtlCol="0" anchor="ctr"/>
          <a:lstStyle/>
          <a:p>
            <a:pPr marL="0" indent="0" algn="r">
              <a:buNone/>
            </a:pPr>
            <a:r>
              <a:rPr lang="en-US" sz="1000" dirty="0">
                <a:solidFill>
                  <a:srgbClr val="222222"/>
                </a:solidFill>
                <a:latin typeface="Inter SemiBold" pitchFamily="34" charset="0"/>
                <a:ea typeface="Inter SemiBold" pitchFamily="34" charset="-122"/>
                <a:cs typeface="Inter SemiBold" pitchFamily="34" charset="-120"/>
              </a:rPr>
              <a:t>Milano Evolution</a:t>
            </a:r>
            <a:endParaRPr lang="en-US" sz="1000" dirty="0"/>
          </a:p>
        </p:txBody>
      </p:sp>
      <p:pic>
        <p:nvPicPr>
          <p:cNvPr id="4" name="Image 0" descr="/home/thomas/milano-evolution/pitch/assets/logo.png"/>
          <p:cNvPicPr>
            <a:picLocks noChangeAspect="1"/>
          </p:cNvPicPr>
          <p:nvPr/>
        </p:nvPicPr>
        <p:blipFill>
          <a:blip r:embed="rId3"/>
          <a:stretch>
            <a:fillRect/>
          </a:stretch>
        </p:blipFill>
        <p:spPr>
          <a:xfrm>
            <a:off x="8385048" y="338328"/>
            <a:ext cx="274320" cy="274320"/>
          </a:xfrm>
          <a:prstGeom prst="rect">
            <a:avLst/>
          </a:prstGeom>
        </p:spPr>
      </p:pic>
      <p:sp>
        <p:nvSpPr>
          <p:cNvPr id="5" name="Text 2"/>
          <p:cNvSpPr/>
          <p:nvPr/>
        </p:nvSpPr>
        <p:spPr>
          <a:xfrm>
            <a:off x="502920" y="658368"/>
            <a:ext cx="8138160" cy="566928"/>
          </a:xfrm>
          <a:prstGeom prst="rect">
            <a:avLst/>
          </a:prstGeom>
          <a:noFill/>
          <a:ln/>
        </p:spPr>
        <p:txBody>
          <a:bodyPr wrap="square" lIns="0" tIns="0" rIns="0" bIns="0" rtlCol="0" anchor="t"/>
          <a:lstStyle/>
          <a:p>
            <a:pPr marL="0" indent="0">
              <a:buNone/>
            </a:pPr>
            <a:r>
              <a:rPr lang="en-US" sz="2800" dirty="0">
                <a:solidFill>
                  <a:srgbClr val="222222"/>
                </a:solidFill>
                <a:latin typeface="Inter SemiBold" pitchFamily="34" charset="0"/>
                <a:ea typeface="Inter SemiBold" pitchFamily="34" charset="-122"/>
                <a:cs typeface="Inter SemiBold" pitchFamily="34" charset="-120"/>
              </a:rPr>
              <a:t>Decine di pagine su </a:t>
            </a:r>
            <a:r>
              <a:rPr lang="en-US" sz="2800" dirty="0">
                <a:solidFill>
                  <a:srgbClr val="222222"/>
                </a:solidFill>
                <a:highlight>
                  <a:srgbClr val="FFC800"/>
                </a:highlight>
                <a:latin typeface="Inter SemiBold" pitchFamily="34" charset="0"/>
                <a:ea typeface="Inter SemiBold" pitchFamily="34" charset="-122"/>
                <a:cs typeface="Inter SemiBold" pitchFamily="34" charset="-120"/>
              </a:rPr>
              <a:t>5 siti</a:t>
            </a:r>
            <a:r>
              <a:rPr lang="en-US" sz="2800" dirty="0">
                <a:solidFill>
                  <a:srgbClr val="222222"/>
                </a:solidFill>
                <a:latin typeface="Inter SemiBold" pitchFamily="34" charset="0"/>
                <a:ea typeface="Inter SemiBold" pitchFamily="34" charset="-122"/>
                <a:cs typeface="Inter SemiBold" pitchFamily="34" charset="-120"/>
              </a:rPr>
              <a:t>, metà in italiano.</a:t>
            </a:r>
            <a:endParaRPr lang="en-US" sz="2800" dirty="0"/>
          </a:p>
        </p:txBody>
      </p:sp>
      <p:pic>
        <p:nvPicPr>
          <p:cNvPr id="6" name="Image 1" descr="/home/thomas/milano-evolution/pitch/assets/site-yesmilano-rents-r.png"/>
          <p:cNvPicPr>
            <a:picLocks noChangeAspect="1"/>
          </p:cNvPicPr>
          <p:nvPr/>
        </p:nvPicPr>
        <p:blipFill>
          <a:blip r:embed="rId4"/>
          <a:stretch>
            <a:fillRect/>
          </a:stretch>
        </p:blipFill>
        <p:spPr>
          <a:xfrm>
            <a:off x="502920" y="1600200"/>
            <a:ext cx="2651760" cy="1655064"/>
          </a:xfrm>
          <a:prstGeom prst="rect">
            <a:avLst/>
          </a:prstGeom>
          <a:effectLst>
            <a:outerShdw blurRad="177800" dist="38100" dir="5400000" algn="bl" rotWithShape="0">
              <a:srgbClr val="000000">
                <a:alpha val="12000"/>
              </a:srgbClr>
            </a:outerShdw>
          </a:effectLst>
        </p:spPr>
      </p:pic>
      <p:sp>
        <p:nvSpPr>
          <p:cNvPr id="7" name="Text 3"/>
          <p:cNvSpPr/>
          <p:nvPr/>
        </p:nvSpPr>
        <p:spPr>
          <a:xfrm>
            <a:off x="502920" y="3401568"/>
            <a:ext cx="2651760" cy="256032"/>
          </a:xfrm>
          <a:prstGeom prst="rect">
            <a:avLst/>
          </a:prstGeom>
          <a:noFill/>
          <a:ln/>
        </p:spPr>
        <p:txBody>
          <a:bodyPr wrap="square" lIns="0" tIns="0" rIns="0" bIns="0" rtlCol="0" anchor="ctr"/>
          <a:lstStyle/>
          <a:p>
            <a:pPr marL="0" indent="0">
              <a:buNone/>
            </a:pPr>
            <a:r>
              <a:rPr lang="en-US" sz="1250" dirty="0">
                <a:solidFill>
                  <a:srgbClr val="222222"/>
                </a:solidFill>
                <a:latin typeface="Inter SemiBold" pitchFamily="34" charset="0"/>
                <a:ea typeface="Inter SemiBold" pitchFamily="34" charset="-122"/>
                <a:cs typeface="Inter SemiBold" pitchFamily="34" charset="-120"/>
              </a:rPr>
              <a:t>yesmilano.it</a:t>
            </a:r>
            <a:endParaRPr lang="en-US" sz="1250" dirty="0"/>
          </a:p>
        </p:txBody>
      </p:sp>
      <p:sp>
        <p:nvSpPr>
          <p:cNvPr id="8" name="Text 4"/>
          <p:cNvSpPr/>
          <p:nvPr/>
        </p:nvSpPr>
        <p:spPr>
          <a:xfrm>
            <a:off x="502920" y="3657600"/>
            <a:ext cx="2651760" cy="256032"/>
          </a:xfrm>
          <a:prstGeom prst="rect">
            <a:avLst/>
          </a:prstGeom>
          <a:noFill/>
          <a:ln/>
        </p:spPr>
        <p:txBody>
          <a:bodyPr wrap="square" lIns="0" tIns="0" rIns="0" bIns="0" rtlCol="0" anchor="ctr"/>
          <a:lstStyle/>
          <a:p>
            <a:pPr marL="0" indent="0">
              <a:buNone/>
            </a:pPr>
            <a:r>
              <a:rPr lang="en-US" sz="1100" dirty="0">
                <a:solidFill>
                  <a:srgbClr val="6A6A6A"/>
                </a:solidFill>
                <a:latin typeface="Inter" pitchFamily="34" charset="0"/>
                <a:ea typeface="Inter" pitchFamily="34" charset="-122"/>
                <a:cs typeface="Inter" pitchFamily="34" charset="-120"/>
              </a:rPr>
              <a:t>La guida all'affitto, in inglese</a:t>
            </a:r>
            <a:endParaRPr lang="en-US" sz="1100" dirty="0"/>
          </a:p>
        </p:txBody>
      </p:sp>
      <p:pic>
        <p:nvPicPr>
          <p:cNvPr id="9" name="Image 2" descr="/home/thomas/milano-evolution/pitch/assets/site-comune-page-r.png"/>
          <p:cNvPicPr>
            <a:picLocks noChangeAspect="1"/>
          </p:cNvPicPr>
          <p:nvPr/>
        </p:nvPicPr>
        <p:blipFill>
          <a:blip r:embed="rId5"/>
          <a:stretch>
            <a:fillRect/>
          </a:stretch>
        </p:blipFill>
        <p:spPr>
          <a:xfrm>
            <a:off x="3383280" y="1600200"/>
            <a:ext cx="2651760" cy="1655064"/>
          </a:xfrm>
          <a:prstGeom prst="rect">
            <a:avLst/>
          </a:prstGeom>
          <a:effectLst>
            <a:outerShdw blurRad="177800" dist="38100" dir="5400000" algn="bl" rotWithShape="0">
              <a:srgbClr val="000000">
                <a:alpha val="12000"/>
              </a:srgbClr>
            </a:outerShdw>
          </a:effectLst>
        </p:spPr>
      </p:pic>
      <p:sp>
        <p:nvSpPr>
          <p:cNvPr id="10" name="Text 5"/>
          <p:cNvSpPr/>
          <p:nvPr/>
        </p:nvSpPr>
        <p:spPr>
          <a:xfrm>
            <a:off x="3383280" y="3401568"/>
            <a:ext cx="2651760" cy="256032"/>
          </a:xfrm>
          <a:prstGeom prst="rect">
            <a:avLst/>
          </a:prstGeom>
          <a:noFill/>
          <a:ln/>
        </p:spPr>
        <p:txBody>
          <a:bodyPr wrap="square" lIns="0" tIns="0" rIns="0" bIns="0" rtlCol="0" anchor="ctr"/>
          <a:lstStyle/>
          <a:p>
            <a:pPr marL="0" indent="0">
              <a:buNone/>
            </a:pPr>
            <a:r>
              <a:rPr lang="en-US" sz="1250" dirty="0">
                <a:solidFill>
                  <a:srgbClr val="222222"/>
                </a:solidFill>
                <a:latin typeface="Inter SemiBold" pitchFamily="34" charset="0"/>
                <a:ea typeface="Inter SemiBold" pitchFamily="34" charset="-122"/>
                <a:cs typeface="Inter SemiBold" pitchFamily="34" charset="-120"/>
              </a:rPr>
              <a:t>comune.milano.it</a:t>
            </a:r>
            <a:endParaRPr lang="en-US" sz="1250" dirty="0"/>
          </a:p>
        </p:txBody>
      </p:sp>
      <p:sp>
        <p:nvSpPr>
          <p:cNvPr id="11" name="Text 6"/>
          <p:cNvSpPr/>
          <p:nvPr/>
        </p:nvSpPr>
        <p:spPr>
          <a:xfrm>
            <a:off x="3383280" y="3657600"/>
            <a:ext cx="2651760" cy="256032"/>
          </a:xfrm>
          <a:prstGeom prst="rect">
            <a:avLst/>
          </a:prstGeom>
          <a:noFill/>
          <a:ln/>
        </p:spPr>
        <p:txBody>
          <a:bodyPr wrap="square" lIns="0" tIns="0" rIns="0" bIns="0" rtlCol="0" anchor="ctr"/>
          <a:lstStyle/>
          <a:p>
            <a:pPr marL="0" indent="0">
              <a:buNone/>
            </a:pPr>
            <a:r>
              <a:rPr lang="en-US" sz="1100" dirty="0">
                <a:solidFill>
                  <a:srgbClr val="6A6A6A"/>
                </a:solidFill>
                <a:latin typeface="Inter" pitchFamily="34" charset="0"/>
                <a:ea typeface="Inter" pitchFamily="34" charset="-122"/>
                <a:cs typeface="Inter" pitchFamily="34" charset="-120"/>
              </a:rPr>
              <a:t>L'anagrafe, in italiano</a:t>
            </a:r>
            <a:endParaRPr lang="en-US" sz="1100" dirty="0"/>
          </a:p>
        </p:txBody>
      </p:sp>
      <p:sp>
        <p:nvSpPr>
          <p:cNvPr id="12" name="Text 7"/>
          <p:cNvSpPr/>
          <p:nvPr/>
        </p:nvSpPr>
        <p:spPr>
          <a:xfrm>
            <a:off x="6355080" y="1572768"/>
            <a:ext cx="2286000" cy="384048"/>
          </a:xfrm>
          <a:prstGeom prst="rect">
            <a:avLst/>
          </a:prstGeom>
          <a:noFill/>
          <a:ln/>
        </p:spPr>
        <p:txBody>
          <a:bodyPr wrap="square" lIns="0" tIns="0" rIns="0" bIns="0" rtlCol="0" anchor="t"/>
          <a:lstStyle/>
          <a:p>
            <a:pPr marL="0" indent="0">
              <a:buNone/>
            </a:pPr>
            <a:r>
              <a:rPr lang="en-US" sz="2400" dirty="0">
                <a:solidFill>
                  <a:srgbClr val="222222"/>
                </a:solidFill>
                <a:latin typeface="Inter SemiBold" pitchFamily="34" charset="0"/>
                <a:ea typeface="Inter SemiBold" pitchFamily="34" charset="-122"/>
                <a:cs typeface="Inter SemiBold" pitchFamily="34" charset="-120"/>
              </a:rPr>
              <a:t>16%</a:t>
            </a:r>
            <a:endParaRPr lang="en-US" sz="2400" dirty="0"/>
          </a:p>
        </p:txBody>
      </p:sp>
      <p:sp>
        <p:nvSpPr>
          <p:cNvPr id="13" name="Text 8"/>
          <p:cNvSpPr/>
          <p:nvPr/>
        </p:nvSpPr>
        <p:spPr>
          <a:xfrm>
            <a:off x="6355080" y="1965960"/>
            <a:ext cx="2286000" cy="457200"/>
          </a:xfrm>
          <a:prstGeom prst="rect">
            <a:avLst/>
          </a:prstGeom>
          <a:noFill/>
          <a:ln/>
        </p:spPr>
        <p:txBody>
          <a:bodyPr wrap="square" lIns="0" tIns="0" rIns="0" bIns="0" rtlCol="0" anchor="t"/>
          <a:lstStyle/>
          <a:p>
            <a:pPr marL="0" indent="0">
              <a:buNone/>
            </a:pPr>
            <a:r>
              <a:rPr lang="en-US" sz="950" dirty="0">
                <a:solidFill>
                  <a:srgbClr val="222222"/>
                </a:solidFill>
                <a:latin typeface="Inter" pitchFamily="34" charset="0"/>
                <a:ea typeface="Inter" pitchFamily="34" charset="-122"/>
                <a:cs typeface="Inter" pitchFamily="34" charset="-120"/>
              </a:rPr>
              <a:t>degli studenti in mobilità si sente integrato</a:t>
            </a:r>
            <a:endParaRPr lang="en-US" sz="950" dirty="0"/>
          </a:p>
          <a:p>
            <a:pPr marL="0" indent="0">
              <a:buNone/>
            </a:pPr>
            <a:r>
              <a:rPr lang="en-US" sz="800" dirty="0">
                <a:solidFill>
                  <a:srgbClr val="929292"/>
                </a:solidFill>
                <a:latin typeface="Inter" pitchFamily="34" charset="0"/>
                <a:ea typeface="Inter" pitchFamily="34" charset="-122"/>
                <a:cs typeface="Inter" pitchFamily="34" charset="-120"/>
              </a:rPr>
              <a:t>ESNsurvey 2021</a:t>
            </a:r>
            <a:endParaRPr lang="en-US" sz="950" dirty="0"/>
          </a:p>
        </p:txBody>
      </p:sp>
      <p:sp>
        <p:nvSpPr>
          <p:cNvPr id="14" name="Shape 9"/>
          <p:cNvSpPr/>
          <p:nvPr/>
        </p:nvSpPr>
        <p:spPr>
          <a:xfrm>
            <a:off x="6355080" y="2414016"/>
            <a:ext cx="2286000" cy="0"/>
          </a:xfrm>
          <a:prstGeom prst="line">
            <a:avLst/>
          </a:prstGeom>
          <a:noFill/>
          <a:ln w="9525">
            <a:solidFill>
              <a:srgbClr val="EBEBEB"/>
            </a:solidFill>
            <a:prstDash val="solid"/>
          </a:ln>
        </p:spPr>
      </p:sp>
      <p:sp>
        <p:nvSpPr>
          <p:cNvPr id="15" name="Text 10"/>
          <p:cNvSpPr/>
          <p:nvPr/>
        </p:nvSpPr>
        <p:spPr>
          <a:xfrm>
            <a:off x="6355080" y="2523744"/>
            <a:ext cx="2286000" cy="384048"/>
          </a:xfrm>
          <a:prstGeom prst="rect">
            <a:avLst/>
          </a:prstGeom>
          <a:noFill/>
          <a:ln/>
        </p:spPr>
        <p:txBody>
          <a:bodyPr wrap="square" lIns="0" tIns="0" rIns="0" bIns="0" rtlCol="0" anchor="t"/>
          <a:lstStyle/>
          <a:p>
            <a:pPr marL="0" indent="0">
              <a:buNone/>
            </a:pPr>
            <a:r>
              <a:rPr lang="en-US" sz="2400" dirty="0">
                <a:solidFill>
                  <a:srgbClr val="A50D26"/>
                </a:solidFill>
                <a:latin typeface="Inter SemiBold" pitchFamily="34" charset="0"/>
                <a:ea typeface="Inter SemiBold" pitchFamily="34" charset="-122"/>
                <a:cs typeface="Inter SemiBold" pitchFamily="34" charset="-120"/>
              </a:rPr>
              <a:t>39%</a:t>
            </a:r>
            <a:endParaRPr lang="en-US" sz="2400" dirty="0"/>
          </a:p>
        </p:txBody>
      </p:sp>
      <p:sp>
        <p:nvSpPr>
          <p:cNvPr id="16" name="Text 11"/>
          <p:cNvSpPr/>
          <p:nvPr/>
        </p:nvSpPr>
        <p:spPr>
          <a:xfrm>
            <a:off x="6355080" y="2916936"/>
            <a:ext cx="2286000" cy="457200"/>
          </a:xfrm>
          <a:prstGeom prst="rect">
            <a:avLst/>
          </a:prstGeom>
          <a:noFill/>
          <a:ln/>
        </p:spPr>
        <p:txBody>
          <a:bodyPr wrap="square" lIns="0" tIns="0" rIns="0" bIns="0" rtlCol="0" anchor="t"/>
          <a:lstStyle/>
          <a:p>
            <a:pPr marL="0" indent="0">
              <a:buNone/>
            </a:pPr>
            <a:r>
              <a:rPr lang="en-US" sz="950" dirty="0">
                <a:solidFill>
                  <a:srgbClr val="222222"/>
                </a:solidFill>
                <a:latin typeface="Inter" pitchFamily="34" charset="0"/>
                <a:ea typeface="Inter" pitchFamily="34" charset="-122"/>
                <a:cs typeface="Inter" pitchFamily="34" charset="-120"/>
              </a:rPr>
              <a:t>dei laureati internazionali Polimi lascia l'Italia entro un anno</a:t>
            </a:r>
            <a:endParaRPr lang="en-US" sz="950" dirty="0"/>
          </a:p>
          <a:p>
            <a:pPr marL="0" indent="0">
              <a:buNone/>
            </a:pPr>
            <a:r>
              <a:rPr lang="en-US" sz="800" dirty="0">
                <a:solidFill>
                  <a:srgbClr val="929292"/>
                </a:solidFill>
                <a:latin typeface="Inter" pitchFamily="34" charset="0"/>
                <a:ea typeface="Inter" pitchFamily="34" charset="-122"/>
                <a:cs typeface="Inter" pitchFamily="34" charset="-120"/>
              </a:rPr>
              <a:t>Politecnico di Milano 2025</a:t>
            </a:r>
            <a:endParaRPr lang="en-US" sz="950" dirty="0"/>
          </a:p>
        </p:txBody>
      </p:sp>
      <p:sp>
        <p:nvSpPr>
          <p:cNvPr id="17" name="Shape 12"/>
          <p:cNvSpPr/>
          <p:nvPr/>
        </p:nvSpPr>
        <p:spPr>
          <a:xfrm>
            <a:off x="6355080" y="3364992"/>
            <a:ext cx="2286000" cy="0"/>
          </a:xfrm>
          <a:prstGeom prst="line">
            <a:avLst/>
          </a:prstGeom>
          <a:noFill/>
          <a:ln w="9525">
            <a:solidFill>
              <a:srgbClr val="EBEBEB"/>
            </a:solidFill>
            <a:prstDash val="solid"/>
          </a:ln>
        </p:spPr>
      </p:sp>
      <p:sp>
        <p:nvSpPr>
          <p:cNvPr id="18" name="Text 13"/>
          <p:cNvSpPr/>
          <p:nvPr/>
        </p:nvSpPr>
        <p:spPr>
          <a:xfrm>
            <a:off x="6355080" y="3474720"/>
            <a:ext cx="2286000" cy="384048"/>
          </a:xfrm>
          <a:prstGeom prst="rect">
            <a:avLst/>
          </a:prstGeom>
          <a:noFill/>
          <a:ln/>
        </p:spPr>
        <p:txBody>
          <a:bodyPr wrap="square" lIns="0" tIns="0" rIns="0" bIns="0" rtlCol="0" anchor="t"/>
          <a:lstStyle/>
          <a:p>
            <a:pPr marL="0" indent="0">
              <a:buNone/>
            </a:pPr>
            <a:r>
              <a:rPr lang="en-US" sz="2400" dirty="0">
                <a:solidFill>
                  <a:srgbClr val="222222"/>
                </a:solidFill>
                <a:latin typeface="Inter SemiBold" pitchFamily="34" charset="0"/>
                <a:ea typeface="Inter SemiBold" pitchFamily="34" charset="-122"/>
                <a:cs typeface="Inter SemiBold" pitchFamily="34" charset="-120"/>
              </a:rPr>
              <a:t>45,6%</a:t>
            </a:r>
            <a:endParaRPr lang="en-US" sz="2400" dirty="0"/>
          </a:p>
        </p:txBody>
      </p:sp>
      <p:sp>
        <p:nvSpPr>
          <p:cNvPr id="19" name="Text 14"/>
          <p:cNvSpPr/>
          <p:nvPr/>
        </p:nvSpPr>
        <p:spPr>
          <a:xfrm>
            <a:off x="6355080" y="3867912"/>
            <a:ext cx="2286000" cy="457200"/>
          </a:xfrm>
          <a:prstGeom prst="rect">
            <a:avLst/>
          </a:prstGeom>
          <a:noFill/>
          <a:ln/>
        </p:spPr>
        <p:txBody>
          <a:bodyPr wrap="square" lIns="0" tIns="0" rIns="0" bIns="0" rtlCol="0" anchor="t"/>
          <a:lstStyle/>
          <a:p>
            <a:pPr marL="0" indent="0">
              <a:buNone/>
            </a:pPr>
            <a:r>
              <a:rPr lang="en-US" sz="950" dirty="0">
                <a:solidFill>
                  <a:srgbClr val="222222"/>
                </a:solidFill>
                <a:latin typeface="Inter" pitchFamily="34" charset="0"/>
                <a:ea typeface="Inter" pitchFamily="34" charset="-122"/>
                <a:cs typeface="Inter" pitchFamily="34" charset="-120"/>
              </a:rPr>
              <a:t>dei profili cercati dalle imprese è difficile da trovare</a:t>
            </a:r>
            <a:endParaRPr lang="en-US" sz="950" dirty="0"/>
          </a:p>
          <a:p>
            <a:pPr marL="0" indent="0">
              <a:buNone/>
            </a:pPr>
            <a:r>
              <a:rPr lang="en-US" sz="800" dirty="0">
                <a:solidFill>
                  <a:srgbClr val="929292"/>
                </a:solidFill>
                <a:latin typeface="Inter" pitchFamily="34" charset="0"/>
                <a:ea typeface="Inter" pitchFamily="34" charset="-122"/>
                <a:cs typeface="Inter" pitchFamily="34" charset="-120"/>
              </a:rPr>
              <a:t>Assolombarda 2025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65760"/>
            <a:ext cx="5486400" cy="237744"/>
          </a:xfrm>
          <a:prstGeom prst="rect">
            <a:avLst/>
          </a:prstGeom>
          <a:noFill/>
          <a:ln/>
        </p:spPr>
        <p:txBody>
          <a:bodyPr wrap="square" lIns="0" tIns="0" rIns="0" bIns="0" rtlCol="0" anchor="ctr"/>
          <a:lstStyle/>
          <a:p>
            <a:pPr marL="0" indent="0">
              <a:buNone/>
            </a:pPr>
            <a:r>
              <a:rPr lang="en-US" sz="1100" dirty="0">
                <a:solidFill>
                  <a:srgbClr val="6A6A6A"/>
                </a:solidFill>
                <a:latin typeface="Inter Medium" pitchFamily="34" charset="0"/>
                <a:ea typeface="Inter Medium" pitchFamily="34" charset="-122"/>
                <a:cs typeface="Inter Medium" pitchFamily="34" charset="-120"/>
              </a:rPr>
              <a:t>La demo</a:t>
            </a:r>
            <a:endParaRPr lang="en-US" sz="1100" dirty="0"/>
          </a:p>
        </p:txBody>
      </p:sp>
      <p:sp>
        <p:nvSpPr>
          <p:cNvPr id="3" name="Text 1"/>
          <p:cNvSpPr/>
          <p:nvPr/>
        </p:nvSpPr>
        <p:spPr>
          <a:xfrm>
            <a:off x="5852160" y="347472"/>
            <a:ext cx="2468880" cy="274320"/>
          </a:xfrm>
          <a:prstGeom prst="rect">
            <a:avLst/>
          </a:prstGeom>
          <a:noFill/>
          <a:ln/>
        </p:spPr>
        <p:txBody>
          <a:bodyPr wrap="square" lIns="0" tIns="0" rIns="0" bIns="0" rtlCol="0" anchor="ctr"/>
          <a:lstStyle/>
          <a:p>
            <a:pPr marL="0" indent="0" algn="r">
              <a:buNone/>
            </a:pPr>
            <a:r>
              <a:rPr lang="en-US" sz="1000" dirty="0">
                <a:solidFill>
                  <a:srgbClr val="222222"/>
                </a:solidFill>
                <a:latin typeface="Inter SemiBold" pitchFamily="34" charset="0"/>
                <a:ea typeface="Inter SemiBold" pitchFamily="34" charset="-122"/>
                <a:cs typeface="Inter SemiBold" pitchFamily="34" charset="-120"/>
              </a:rPr>
              <a:t>Milano Evolution</a:t>
            </a:r>
            <a:endParaRPr lang="en-US" sz="1000" dirty="0"/>
          </a:p>
        </p:txBody>
      </p:sp>
      <p:pic>
        <p:nvPicPr>
          <p:cNvPr id="4" name="Image 0" descr="/home/thomas/milano-evolution/pitch/assets/logo.png"/>
          <p:cNvPicPr>
            <a:picLocks noChangeAspect="1"/>
          </p:cNvPicPr>
          <p:nvPr/>
        </p:nvPicPr>
        <p:blipFill>
          <a:blip r:embed="rId3"/>
          <a:stretch>
            <a:fillRect/>
          </a:stretch>
        </p:blipFill>
        <p:spPr>
          <a:xfrm>
            <a:off x="8385048" y="338328"/>
            <a:ext cx="274320" cy="274320"/>
          </a:xfrm>
          <a:prstGeom prst="rect">
            <a:avLst/>
          </a:prstGeom>
        </p:spPr>
      </p:pic>
      <p:sp>
        <p:nvSpPr>
          <p:cNvPr id="5" name="Text 2"/>
          <p:cNvSpPr/>
          <p:nvPr/>
        </p:nvSpPr>
        <p:spPr>
          <a:xfrm>
            <a:off x="502920" y="658368"/>
            <a:ext cx="8138160" cy="566928"/>
          </a:xfrm>
          <a:prstGeom prst="rect">
            <a:avLst/>
          </a:prstGeom>
          <a:noFill/>
          <a:ln/>
        </p:spPr>
        <p:txBody>
          <a:bodyPr wrap="square" lIns="0" tIns="0" rIns="0" bIns="0" rtlCol="0" anchor="t"/>
          <a:lstStyle/>
          <a:p>
            <a:pPr marL="0" indent="0">
              <a:buNone/>
            </a:pPr>
            <a:r>
              <a:rPr lang="en-US" sz="2800" dirty="0">
                <a:solidFill>
                  <a:srgbClr val="222222"/>
                </a:solidFill>
                <a:latin typeface="Inter SemiBold" pitchFamily="34" charset="0"/>
                <a:ea typeface="Inter SemiBold" pitchFamily="34" charset="-122"/>
                <a:cs typeface="Inter SemiBold" pitchFamily="34" charset="-120"/>
              </a:rPr>
              <a:t>Nour non apre mai un portale.</a:t>
            </a:r>
            <a:endParaRPr lang="en-US" sz="2800" dirty="0"/>
          </a:p>
        </p:txBody>
      </p:sp>
      <p:sp>
        <p:nvSpPr>
          <p:cNvPr id="6" name="Shape 3"/>
          <p:cNvSpPr/>
          <p:nvPr/>
        </p:nvSpPr>
        <p:spPr>
          <a:xfrm>
            <a:off x="502920" y="1325880"/>
            <a:ext cx="8138160" cy="3520440"/>
          </a:xfrm>
          <a:prstGeom prst="roundRect">
            <a:avLst>
              <a:gd name="adj" fmla="val 5714"/>
            </a:avLst>
          </a:prstGeom>
          <a:solidFill>
            <a:srgbClr val="F7F7F7"/>
          </a:solidFill>
          <a:ln w="12700">
            <a:solidFill>
              <a:srgbClr val="F7F7F7"/>
            </a:solidFill>
            <a:prstDash val="solid"/>
          </a:ln>
        </p:spPr>
      </p:sp>
      <p:pic>
        <p:nvPicPr>
          <p:cNvPr id="7" name="Image 1" descr="/home/thomas/milano-evolution/pitch/assets/mock-01.png"/>
          <p:cNvPicPr>
            <a:picLocks noChangeAspect="1"/>
          </p:cNvPicPr>
          <p:nvPr/>
        </p:nvPicPr>
        <p:blipFill>
          <a:blip r:embed="rId4"/>
          <a:stretch>
            <a:fillRect/>
          </a:stretch>
        </p:blipFill>
        <p:spPr>
          <a:xfrm>
            <a:off x="777240" y="1508760"/>
            <a:ext cx="1364646" cy="2852928"/>
          </a:xfrm>
          <a:prstGeom prst="rect">
            <a:avLst/>
          </a:prstGeom>
        </p:spPr>
      </p:pic>
      <p:sp>
        <p:nvSpPr>
          <p:cNvPr id="8" name="Text 4"/>
          <p:cNvSpPr/>
          <p:nvPr/>
        </p:nvSpPr>
        <p:spPr>
          <a:xfrm>
            <a:off x="640080" y="4443984"/>
            <a:ext cx="1638966" cy="237744"/>
          </a:xfrm>
          <a:prstGeom prst="rect">
            <a:avLst/>
          </a:prstGeom>
          <a:noFill/>
          <a:ln/>
        </p:spPr>
        <p:txBody>
          <a:bodyPr wrap="square" lIns="0" tIns="0" rIns="0" bIns="0" rtlCol="0" anchor="ctr"/>
          <a:lstStyle/>
          <a:p>
            <a:pPr marL="0" indent="0" algn="ctr">
              <a:buNone/>
            </a:pPr>
            <a:r>
              <a:rPr lang="en-US" sz="1000" dirty="0">
                <a:solidFill>
                  <a:srgbClr val="222222"/>
                </a:solidFill>
                <a:latin typeface="Inter SemiBold" pitchFamily="34" charset="0"/>
                <a:ea typeface="Inter SemiBold" pitchFamily="34" charset="-122"/>
                <a:cs typeface="Inter SemiBold" pitchFamily="34" charset="-120"/>
              </a:rPr>
              <a:t>Parla nella sua lingua</a:t>
            </a:r>
            <a:endParaRPr lang="en-US" sz="1000" dirty="0"/>
          </a:p>
        </p:txBody>
      </p:sp>
      <p:pic>
        <p:nvPicPr>
          <p:cNvPr id="9" name="Image 2" descr="/home/thomas/milano-evolution/pitch/assets/mock-06.png"/>
          <p:cNvPicPr>
            <a:picLocks noChangeAspect="1"/>
          </p:cNvPicPr>
          <p:nvPr/>
        </p:nvPicPr>
        <p:blipFill>
          <a:blip r:embed="rId5"/>
          <a:stretch>
            <a:fillRect/>
          </a:stretch>
        </p:blipFill>
        <p:spPr>
          <a:xfrm>
            <a:off x="2434494" y="1508760"/>
            <a:ext cx="1364646" cy="2852928"/>
          </a:xfrm>
          <a:prstGeom prst="rect">
            <a:avLst/>
          </a:prstGeom>
        </p:spPr>
      </p:pic>
      <p:sp>
        <p:nvSpPr>
          <p:cNvPr id="10" name="Text 5"/>
          <p:cNvSpPr/>
          <p:nvPr/>
        </p:nvSpPr>
        <p:spPr>
          <a:xfrm>
            <a:off x="2297334" y="4443984"/>
            <a:ext cx="1638966" cy="237744"/>
          </a:xfrm>
          <a:prstGeom prst="rect">
            <a:avLst/>
          </a:prstGeom>
          <a:noFill/>
          <a:ln/>
        </p:spPr>
        <p:txBody>
          <a:bodyPr wrap="square" lIns="0" tIns="0" rIns="0" bIns="0" rtlCol="0" anchor="ctr"/>
          <a:lstStyle/>
          <a:p>
            <a:pPr marL="0" indent="0" algn="ctr">
              <a:buNone/>
            </a:pPr>
            <a:r>
              <a:rPr lang="en-US" sz="1000" dirty="0">
                <a:solidFill>
                  <a:srgbClr val="222222"/>
                </a:solidFill>
                <a:latin typeface="Inter SemiBold" pitchFamily="34" charset="0"/>
                <a:ea typeface="Inter SemiBold" pitchFamily="34" charset="-122"/>
                <a:cs typeface="Inter SemiBold" pitchFamily="34" charset="-120"/>
              </a:rPr>
              <a:t>Il piano, con le fonti</a:t>
            </a:r>
            <a:endParaRPr lang="en-US" sz="1000" dirty="0"/>
          </a:p>
        </p:txBody>
      </p:sp>
      <p:pic>
        <p:nvPicPr>
          <p:cNvPr id="11" name="Image 3" descr="/home/thomas/milano-evolution/pitch/assets/mock-08.png"/>
          <p:cNvPicPr>
            <a:picLocks noChangeAspect="1"/>
          </p:cNvPicPr>
          <p:nvPr/>
        </p:nvPicPr>
        <p:blipFill>
          <a:blip r:embed="rId6"/>
          <a:stretch>
            <a:fillRect/>
          </a:stretch>
        </p:blipFill>
        <p:spPr>
          <a:xfrm>
            <a:off x="4091747" y="1508760"/>
            <a:ext cx="1364646" cy="2852928"/>
          </a:xfrm>
          <a:prstGeom prst="rect">
            <a:avLst/>
          </a:prstGeom>
        </p:spPr>
      </p:pic>
      <p:sp>
        <p:nvSpPr>
          <p:cNvPr id="12" name="Text 6"/>
          <p:cNvSpPr/>
          <p:nvPr/>
        </p:nvSpPr>
        <p:spPr>
          <a:xfrm>
            <a:off x="3954587" y="4443984"/>
            <a:ext cx="1638966" cy="237744"/>
          </a:xfrm>
          <a:prstGeom prst="rect">
            <a:avLst/>
          </a:prstGeom>
          <a:noFill/>
          <a:ln/>
        </p:spPr>
        <p:txBody>
          <a:bodyPr wrap="square" lIns="0" tIns="0" rIns="0" bIns="0" rtlCol="0" anchor="ctr"/>
          <a:lstStyle/>
          <a:p>
            <a:pPr marL="0" indent="0" algn="ctr">
              <a:buNone/>
            </a:pPr>
            <a:r>
              <a:rPr lang="en-US" sz="1000" dirty="0">
                <a:solidFill>
                  <a:srgbClr val="222222"/>
                </a:solidFill>
                <a:latin typeface="Inter SemiBold" pitchFamily="34" charset="0"/>
                <a:ea typeface="Inter SemiBold" pitchFamily="34" charset="-122"/>
                <a:cs typeface="Inter SemiBold" pitchFamily="34" charset="-120"/>
              </a:rPr>
              <a:t>Legge il passaporto</a:t>
            </a:r>
            <a:endParaRPr lang="en-US" sz="1000" dirty="0"/>
          </a:p>
        </p:txBody>
      </p:sp>
      <p:pic>
        <p:nvPicPr>
          <p:cNvPr id="13" name="Image 4" descr="/home/thomas/milano-evolution/pitch/assets/mock-09.png"/>
          <p:cNvPicPr>
            <a:picLocks noChangeAspect="1"/>
          </p:cNvPicPr>
          <p:nvPr/>
        </p:nvPicPr>
        <p:blipFill>
          <a:blip r:embed="rId7"/>
          <a:stretch>
            <a:fillRect/>
          </a:stretch>
        </p:blipFill>
        <p:spPr>
          <a:xfrm>
            <a:off x="5749001" y="1508760"/>
            <a:ext cx="1364646" cy="2852928"/>
          </a:xfrm>
          <a:prstGeom prst="rect">
            <a:avLst/>
          </a:prstGeom>
        </p:spPr>
      </p:pic>
      <p:sp>
        <p:nvSpPr>
          <p:cNvPr id="14" name="Text 7"/>
          <p:cNvSpPr/>
          <p:nvPr/>
        </p:nvSpPr>
        <p:spPr>
          <a:xfrm>
            <a:off x="5611841" y="4443984"/>
            <a:ext cx="1638966" cy="237744"/>
          </a:xfrm>
          <a:prstGeom prst="rect">
            <a:avLst/>
          </a:prstGeom>
          <a:noFill/>
          <a:ln/>
        </p:spPr>
        <p:txBody>
          <a:bodyPr wrap="square" lIns="0" tIns="0" rIns="0" bIns="0" rtlCol="0" anchor="ctr"/>
          <a:lstStyle/>
          <a:p>
            <a:pPr marL="0" indent="0" algn="ctr">
              <a:buNone/>
            </a:pPr>
            <a:r>
              <a:rPr lang="en-US" sz="1000" dirty="0">
                <a:solidFill>
                  <a:srgbClr val="222222"/>
                </a:solidFill>
                <a:latin typeface="Inter SemiBold" pitchFamily="34" charset="0"/>
                <a:ea typeface="Inter SemiBold" pitchFamily="34" charset="-122"/>
                <a:cs typeface="Inter SemiBold" pitchFamily="34" charset="-120"/>
              </a:rPr>
              <a:t>Moduli in PDF</a:t>
            </a:r>
            <a:endParaRPr lang="en-US" sz="1000" dirty="0"/>
          </a:p>
        </p:txBody>
      </p:sp>
      <p:sp>
        <p:nvSpPr>
          <p:cNvPr id="15" name="Shape 8"/>
          <p:cNvSpPr/>
          <p:nvPr/>
        </p:nvSpPr>
        <p:spPr>
          <a:xfrm>
            <a:off x="7315200" y="1783080"/>
            <a:ext cx="1143000" cy="1143000"/>
          </a:xfrm>
          <a:prstGeom prst="roundRect">
            <a:avLst>
              <a:gd name="adj" fmla="val 12800"/>
            </a:avLst>
          </a:prstGeom>
          <a:solidFill>
            <a:srgbClr val="FFFFFF"/>
          </a:solidFill>
          <a:ln w="15875">
            <a:solidFill>
              <a:srgbClr val="A50D26"/>
            </a:solidFill>
            <a:prstDash val="dash"/>
          </a:ln>
          <a:effectLst>
            <a:outerShdw blurRad="177800" dist="38100" dir="5400000" algn="bl" rotWithShape="0">
              <a:srgbClr val="000000">
                <a:alpha val="12000"/>
              </a:srgbClr>
            </a:outerShdw>
          </a:effectLst>
        </p:spPr>
      </p:sp>
      <p:sp>
        <p:nvSpPr>
          <p:cNvPr id="16" name="Text 9"/>
          <p:cNvSpPr/>
          <p:nvPr/>
        </p:nvSpPr>
        <p:spPr>
          <a:xfrm>
            <a:off x="7315200" y="2176272"/>
            <a:ext cx="1143000" cy="347472"/>
          </a:xfrm>
          <a:prstGeom prst="rect">
            <a:avLst/>
          </a:prstGeom>
          <a:noFill/>
          <a:ln/>
        </p:spPr>
        <p:txBody>
          <a:bodyPr wrap="square" lIns="0" tIns="0" rIns="0" bIns="0" rtlCol="0" anchor="ctr"/>
          <a:lstStyle/>
          <a:p>
            <a:pPr marL="0" indent="0" algn="ctr">
              <a:buNone/>
            </a:pPr>
            <a:r>
              <a:rPr lang="en-US" sz="1300" dirty="0">
                <a:solidFill>
                  <a:srgbClr val="A50D26"/>
                </a:solidFill>
                <a:latin typeface="Inter SemiBold" pitchFamily="34" charset="0"/>
                <a:ea typeface="Inter SemiBold" pitchFamily="34" charset="-122"/>
                <a:cs typeface="Inter SemiBold" pitchFamily="34" charset="-120"/>
              </a:rPr>
              <a:t>QR app</a:t>
            </a:r>
            <a:endParaRPr lang="en-US" sz="1300" dirty="0"/>
          </a:p>
        </p:txBody>
      </p:sp>
      <p:sp>
        <p:nvSpPr>
          <p:cNvPr id="17" name="Text 10"/>
          <p:cNvSpPr/>
          <p:nvPr/>
        </p:nvSpPr>
        <p:spPr>
          <a:xfrm>
            <a:off x="7223760" y="3063240"/>
            <a:ext cx="1325880" cy="256032"/>
          </a:xfrm>
          <a:prstGeom prst="rect">
            <a:avLst/>
          </a:prstGeom>
          <a:noFill/>
          <a:ln/>
        </p:spPr>
        <p:txBody>
          <a:bodyPr wrap="square" lIns="0" tIns="0" rIns="0" bIns="0" rtlCol="0" anchor="ctr"/>
          <a:lstStyle/>
          <a:p>
            <a:pPr marL="0" indent="0" algn="ctr">
              <a:buNone/>
            </a:pPr>
            <a:r>
              <a:rPr lang="en-US" sz="1200" dirty="0">
                <a:solidFill>
                  <a:srgbClr val="222222"/>
                </a:solidFill>
                <a:latin typeface="Inter SemiBold" pitchFamily="34" charset="0"/>
                <a:ea typeface="Inter SemiBold" pitchFamily="34" charset="-122"/>
                <a:cs typeface="Inter SemiBold" pitchFamily="34" charset="-120"/>
              </a:rPr>
              <a:t>Provala</a:t>
            </a:r>
            <a:endParaRPr lang="en-US" sz="1200" dirty="0"/>
          </a:p>
        </p:txBody>
      </p:sp>
      <p:sp>
        <p:nvSpPr>
          <p:cNvPr id="18" name="Text 11"/>
          <p:cNvSpPr/>
          <p:nvPr/>
        </p:nvSpPr>
        <p:spPr>
          <a:xfrm>
            <a:off x="7223760" y="3310128"/>
            <a:ext cx="1325880" cy="384048"/>
          </a:xfrm>
          <a:prstGeom prst="rect">
            <a:avLst/>
          </a:prstGeom>
          <a:noFill/>
          <a:ln/>
        </p:spPr>
        <p:txBody>
          <a:bodyPr wrap="square" lIns="0" tIns="0" rIns="0" bIns="0" rtlCol="0" anchor="t"/>
          <a:lstStyle/>
          <a:p>
            <a:pPr marL="0" indent="0" algn="ctr">
              <a:buNone/>
            </a:pPr>
            <a:r>
              <a:rPr lang="en-US" sz="900" dirty="0">
                <a:solidFill>
                  <a:srgbClr val="6A6A6A"/>
                </a:solidFill>
                <a:latin typeface="Inter" pitchFamily="34" charset="0"/>
                <a:ea typeface="Inter" pitchFamily="34" charset="-122"/>
                <a:cs typeface="Inter" pitchFamily="34" charset="-120"/>
              </a:rPr>
              <a:t>inquadra il QR col telefono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65760"/>
            <a:ext cx="5486400" cy="237744"/>
          </a:xfrm>
          <a:prstGeom prst="rect">
            <a:avLst/>
          </a:prstGeom>
          <a:noFill/>
          <a:ln/>
        </p:spPr>
        <p:txBody>
          <a:bodyPr wrap="square" lIns="0" tIns="0" rIns="0" bIns="0" rtlCol="0" anchor="ctr"/>
          <a:lstStyle/>
          <a:p>
            <a:pPr marL="0" indent="0">
              <a:buNone/>
            </a:pPr>
            <a:r>
              <a:rPr lang="en-US" sz="1100" dirty="0">
                <a:solidFill>
                  <a:srgbClr val="6A6A6A"/>
                </a:solidFill>
                <a:latin typeface="Inter Medium" pitchFamily="34" charset="0"/>
                <a:ea typeface="Inter Medium" pitchFamily="34" charset="-122"/>
                <a:cs typeface="Inter Medium" pitchFamily="34" charset="-120"/>
              </a:rPr>
              <a:t>Dove lavora Claude</a:t>
            </a:r>
            <a:endParaRPr lang="en-US" sz="1100" dirty="0"/>
          </a:p>
        </p:txBody>
      </p:sp>
      <p:sp>
        <p:nvSpPr>
          <p:cNvPr id="3" name="Text 1"/>
          <p:cNvSpPr/>
          <p:nvPr/>
        </p:nvSpPr>
        <p:spPr>
          <a:xfrm>
            <a:off x="5852160" y="347472"/>
            <a:ext cx="2468880" cy="274320"/>
          </a:xfrm>
          <a:prstGeom prst="rect">
            <a:avLst/>
          </a:prstGeom>
          <a:noFill/>
          <a:ln/>
        </p:spPr>
        <p:txBody>
          <a:bodyPr wrap="square" lIns="0" tIns="0" rIns="0" bIns="0" rtlCol="0" anchor="ctr"/>
          <a:lstStyle/>
          <a:p>
            <a:pPr marL="0" indent="0" algn="r">
              <a:buNone/>
            </a:pPr>
            <a:r>
              <a:rPr lang="en-US" sz="1000" dirty="0">
                <a:solidFill>
                  <a:srgbClr val="222222"/>
                </a:solidFill>
                <a:latin typeface="Inter SemiBold" pitchFamily="34" charset="0"/>
                <a:ea typeface="Inter SemiBold" pitchFamily="34" charset="-122"/>
                <a:cs typeface="Inter SemiBold" pitchFamily="34" charset="-120"/>
              </a:rPr>
              <a:t>Milano Evolution</a:t>
            </a:r>
            <a:endParaRPr lang="en-US" sz="1000" dirty="0"/>
          </a:p>
        </p:txBody>
      </p:sp>
      <p:pic>
        <p:nvPicPr>
          <p:cNvPr id="4" name="Image 0" descr="/home/thomas/milano-evolution/pitch/assets/logo.png"/>
          <p:cNvPicPr>
            <a:picLocks noChangeAspect="1"/>
          </p:cNvPicPr>
          <p:nvPr/>
        </p:nvPicPr>
        <p:blipFill>
          <a:blip r:embed="rId3"/>
          <a:stretch>
            <a:fillRect/>
          </a:stretch>
        </p:blipFill>
        <p:spPr>
          <a:xfrm>
            <a:off x="8385048" y="338328"/>
            <a:ext cx="274320" cy="274320"/>
          </a:xfrm>
          <a:prstGeom prst="rect">
            <a:avLst/>
          </a:prstGeom>
        </p:spPr>
      </p:pic>
      <p:sp>
        <p:nvSpPr>
          <p:cNvPr id="5" name="Text 2"/>
          <p:cNvSpPr/>
          <p:nvPr/>
        </p:nvSpPr>
        <p:spPr>
          <a:xfrm>
            <a:off x="502920" y="658368"/>
            <a:ext cx="8138160" cy="566928"/>
          </a:xfrm>
          <a:prstGeom prst="rect">
            <a:avLst/>
          </a:prstGeom>
          <a:noFill/>
          <a:ln/>
        </p:spPr>
        <p:txBody>
          <a:bodyPr wrap="square" lIns="0" tIns="0" rIns="0" bIns="0" rtlCol="0" anchor="t"/>
          <a:lstStyle/>
          <a:p>
            <a:pPr marL="0" indent="0">
              <a:buNone/>
            </a:pPr>
            <a:r>
              <a:rPr lang="en-US" sz="2800" dirty="0">
                <a:solidFill>
                  <a:srgbClr val="222222"/>
                </a:solidFill>
                <a:latin typeface="Inter SemiBold" pitchFamily="34" charset="0"/>
                <a:ea typeface="Inter SemiBold" pitchFamily="34" charset="-122"/>
                <a:cs typeface="Inter SemiBold" pitchFamily="34" charset="-120"/>
              </a:rPr>
              <a:t>Claude fa il lavoro, la persona decide.</a:t>
            </a:r>
            <a:endParaRPr lang="en-US" sz="2800" dirty="0"/>
          </a:p>
        </p:txBody>
      </p:sp>
      <p:sp>
        <p:nvSpPr>
          <p:cNvPr id="6" name="Shape 3"/>
          <p:cNvSpPr/>
          <p:nvPr/>
        </p:nvSpPr>
        <p:spPr>
          <a:xfrm>
            <a:off x="502920" y="1417320"/>
            <a:ext cx="2103120" cy="3154680"/>
          </a:xfrm>
          <a:prstGeom prst="roundRect">
            <a:avLst>
              <a:gd name="adj" fmla="val 6957"/>
            </a:avLst>
          </a:prstGeom>
          <a:solidFill>
            <a:srgbClr val="FFFFFF"/>
          </a:solidFill>
          <a:ln w="6350">
            <a:solidFill>
              <a:srgbClr val="EBEBEB"/>
            </a:solidFill>
            <a:prstDash val="solid"/>
          </a:ln>
          <a:effectLst>
            <a:outerShdw blurRad="177800" dist="38100" dir="5400000" algn="bl" rotWithShape="0">
              <a:srgbClr val="000000">
                <a:alpha val="12000"/>
              </a:srgbClr>
            </a:outerShdw>
          </a:effectLst>
        </p:spPr>
      </p:sp>
      <p:pic>
        <p:nvPicPr>
          <p:cNvPr id="7" name="Image 1" descr="/home/thomas/milano-evolution/pitch/assets/step1-arrival.png"/>
          <p:cNvPicPr>
            <a:picLocks noChangeAspect="1"/>
          </p:cNvPicPr>
          <p:nvPr/>
        </p:nvPicPr>
        <p:blipFill>
          <a:blip r:embed="rId4"/>
          <a:stretch>
            <a:fillRect/>
          </a:stretch>
        </p:blipFill>
        <p:spPr>
          <a:xfrm>
            <a:off x="640080" y="1554480"/>
            <a:ext cx="1828800" cy="1364742"/>
          </a:xfrm>
          <a:prstGeom prst="rect">
            <a:avLst/>
          </a:prstGeom>
        </p:spPr>
      </p:pic>
      <p:sp>
        <p:nvSpPr>
          <p:cNvPr id="8" name="Text 4"/>
          <p:cNvSpPr/>
          <p:nvPr/>
        </p:nvSpPr>
        <p:spPr>
          <a:xfrm>
            <a:off x="731520" y="3108960"/>
            <a:ext cx="1737360" cy="292608"/>
          </a:xfrm>
          <a:prstGeom prst="rect">
            <a:avLst/>
          </a:prstGeom>
          <a:noFill/>
          <a:ln/>
        </p:spPr>
        <p:txBody>
          <a:bodyPr wrap="square" lIns="0" tIns="0" rIns="0" bIns="0" rtlCol="0" anchor="ctr"/>
          <a:lstStyle/>
          <a:p>
            <a:pPr marL="0" indent="0">
              <a:buNone/>
            </a:pPr>
            <a:r>
              <a:rPr lang="en-US" sz="1500" dirty="0">
                <a:solidFill>
                  <a:srgbClr val="222222"/>
                </a:solidFill>
                <a:latin typeface="Inter SemiBold" pitchFamily="34" charset="0"/>
                <a:ea typeface="Inter SemiBold" pitchFamily="34" charset="-122"/>
                <a:cs typeface="Inter SemiBold" pitchFamily="34" charset="-120"/>
              </a:rPr>
              <a:t>Nour</a:t>
            </a:r>
            <a:endParaRPr lang="en-US" sz="1500" dirty="0"/>
          </a:p>
        </p:txBody>
      </p:sp>
      <p:sp>
        <p:nvSpPr>
          <p:cNvPr id="9" name="Text 5"/>
          <p:cNvSpPr/>
          <p:nvPr/>
        </p:nvSpPr>
        <p:spPr>
          <a:xfrm>
            <a:off x="731520" y="3429000"/>
            <a:ext cx="1691640" cy="502920"/>
          </a:xfrm>
          <a:prstGeom prst="rect">
            <a:avLst/>
          </a:prstGeom>
          <a:noFill/>
          <a:ln/>
        </p:spPr>
        <p:txBody>
          <a:bodyPr wrap="square" lIns="0" tIns="0" rIns="0" bIns="0" rtlCol="0" anchor="t"/>
          <a:lstStyle/>
          <a:p>
            <a:pPr marL="0" indent="0">
              <a:buNone/>
            </a:pPr>
            <a:r>
              <a:rPr lang="en-US" sz="1050" dirty="0">
                <a:solidFill>
                  <a:srgbClr val="6A6A6A"/>
                </a:solidFill>
                <a:latin typeface="Inter" pitchFamily="34" charset="0"/>
                <a:ea typeface="Inter" pitchFamily="34" charset="-122"/>
                <a:cs typeface="Inter" pitchFamily="34" charset="-120"/>
              </a:rPr>
              <a:t>parla, scrive o tocca, nella sua lingua</a:t>
            </a:r>
            <a:endParaRPr lang="en-US" sz="1050" dirty="0"/>
          </a:p>
        </p:txBody>
      </p:sp>
      <p:sp>
        <p:nvSpPr>
          <p:cNvPr id="10" name="Text 6"/>
          <p:cNvSpPr/>
          <p:nvPr/>
        </p:nvSpPr>
        <p:spPr>
          <a:xfrm>
            <a:off x="2624328" y="2830068"/>
            <a:ext cx="329184" cy="329184"/>
          </a:xfrm>
          <a:prstGeom prst="ellipse">
            <a:avLst/>
          </a:prstGeom>
          <a:solidFill>
            <a:srgbClr val="FFFFFF"/>
          </a:solidFill>
          <a:ln w="6350">
            <a:solidFill>
              <a:srgbClr val="EBEBEB"/>
            </a:solidFill>
          </a:ln>
          <a:effectLst>
            <a:outerShdw blurRad="177800" dist="38100" dir="5400000" algn="bl" rotWithShape="0">
              <a:srgbClr val="000000">
                <a:alpha val="12000"/>
              </a:srgbClr>
            </a:outerShdw>
          </a:effectLst>
        </p:spPr>
        <p:txBody>
          <a:bodyPr wrap="square" lIns="0" tIns="0" rIns="0" bIns="0" rtlCol="0" anchor="ctr"/>
          <a:lstStyle/>
          <a:p>
            <a:pPr marL="0" indent="0" algn="ctr">
              <a:buNone/>
            </a:pPr>
            <a:r>
              <a:rPr lang="en-US" sz="1600" dirty="0">
                <a:solidFill>
                  <a:srgbClr val="222222"/>
                </a:solidFill>
                <a:latin typeface="Inter SemiBold" pitchFamily="34" charset="0"/>
                <a:ea typeface="Inter SemiBold" pitchFamily="34" charset="-122"/>
                <a:cs typeface="Inter SemiBold" pitchFamily="34" charset="-120"/>
              </a:rPr>
              <a:t>›</a:t>
            </a:r>
            <a:endParaRPr lang="en-US" sz="1600" dirty="0"/>
          </a:p>
        </p:txBody>
      </p:sp>
      <p:sp>
        <p:nvSpPr>
          <p:cNvPr id="11" name="Shape 7"/>
          <p:cNvSpPr/>
          <p:nvPr/>
        </p:nvSpPr>
        <p:spPr>
          <a:xfrm>
            <a:off x="2971800" y="1417320"/>
            <a:ext cx="3200400" cy="3154680"/>
          </a:xfrm>
          <a:prstGeom prst="roundRect">
            <a:avLst>
              <a:gd name="adj" fmla="val 4638"/>
            </a:avLst>
          </a:prstGeom>
          <a:solidFill>
            <a:srgbClr val="FFFFFF"/>
          </a:solidFill>
          <a:ln w="6350">
            <a:solidFill>
              <a:srgbClr val="EBEBEB"/>
            </a:solidFill>
            <a:prstDash val="solid"/>
          </a:ln>
          <a:effectLst>
            <a:outerShdw blurRad="177800" dist="38100" dir="5400000" algn="bl" rotWithShape="0">
              <a:srgbClr val="000000">
                <a:alpha val="12000"/>
              </a:srgbClr>
            </a:outerShdw>
          </a:effectLst>
        </p:spPr>
      </p:sp>
      <p:sp>
        <p:nvSpPr>
          <p:cNvPr id="12" name="Text 8"/>
          <p:cNvSpPr/>
          <p:nvPr/>
        </p:nvSpPr>
        <p:spPr>
          <a:xfrm>
            <a:off x="3200400" y="1618488"/>
            <a:ext cx="2743200" cy="292608"/>
          </a:xfrm>
          <a:prstGeom prst="rect">
            <a:avLst/>
          </a:prstGeom>
          <a:noFill/>
          <a:ln/>
        </p:spPr>
        <p:txBody>
          <a:bodyPr wrap="square" lIns="0" tIns="0" rIns="0" bIns="0" rtlCol="0" anchor="ctr"/>
          <a:lstStyle/>
          <a:p>
            <a:pPr marL="0" indent="0">
              <a:buNone/>
            </a:pPr>
            <a:r>
              <a:rPr lang="en-US" sz="1500" dirty="0">
                <a:solidFill>
                  <a:srgbClr val="222222"/>
                </a:solidFill>
                <a:latin typeface="Inter SemiBold" pitchFamily="34" charset="0"/>
                <a:ea typeface="Inter SemiBold" pitchFamily="34" charset="-122"/>
                <a:cs typeface="Inter SemiBold" pitchFamily="34" charset="-120"/>
              </a:rPr>
              <a:t>Claude</a:t>
            </a:r>
            <a:endParaRPr lang="en-US" sz="1500" dirty="0"/>
          </a:p>
        </p:txBody>
      </p:sp>
      <p:sp>
        <p:nvSpPr>
          <p:cNvPr id="13" name="Text 9"/>
          <p:cNvSpPr/>
          <p:nvPr/>
        </p:nvSpPr>
        <p:spPr>
          <a:xfrm>
            <a:off x="3200400" y="2103120"/>
            <a:ext cx="256032" cy="256032"/>
          </a:xfrm>
          <a:prstGeom prst="ellipse">
            <a:avLst/>
          </a:prstGeom>
          <a:solidFill>
            <a:srgbClr val="222222"/>
          </a:solidFill>
          <a:ln/>
        </p:spPr>
        <p:txBody>
          <a:bodyPr wrap="square" lIns="0" tIns="0" rIns="0" bIns="0" rtlCol="0" anchor="ctr"/>
          <a:lstStyle/>
          <a:p>
            <a:pPr marL="0" indent="0" algn="ctr">
              <a:buNone/>
            </a:pPr>
            <a:r>
              <a:rPr lang="en-US" sz="950" dirty="0">
                <a:solidFill>
                  <a:srgbClr val="FFFFFF"/>
                </a:solidFill>
                <a:latin typeface="Inter SemiBold" pitchFamily="34" charset="0"/>
                <a:ea typeface="Inter SemiBold" pitchFamily="34" charset="-122"/>
                <a:cs typeface="Inter SemiBold" pitchFamily="34" charset="-120"/>
              </a:rPr>
              <a:t>1</a:t>
            </a:r>
            <a:endParaRPr lang="en-US" sz="950" dirty="0"/>
          </a:p>
        </p:txBody>
      </p:sp>
      <p:sp>
        <p:nvSpPr>
          <p:cNvPr id="14" name="Text 10"/>
          <p:cNvSpPr/>
          <p:nvPr/>
        </p:nvSpPr>
        <p:spPr>
          <a:xfrm>
            <a:off x="3584448" y="2029968"/>
            <a:ext cx="2423160" cy="402336"/>
          </a:xfrm>
          <a:prstGeom prst="rect">
            <a:avLst/>
          </a:prstGeom>
          <a:noFill/>
          <a:ln/>
        </p:spPr>
        <p:txBody>
          <a:bodyPr wrap="square" lIns="0" tIns="0" rIns="0" bIns="0" rtlCol="0" anchor="ctr"/>
          <a:lstStyle/>
          <a:p>
            <a:pPr marL="0" indent="0">
              <a:buNone/>
            </a:pPr>
            <a:r>
              <a:rPr lang="en-US" sz="1100" dirty="0">
                <a:solidFill>
                  <a:srgbClr val="222222"/>
                </a:solidFill>
                <a:latin typeface="Inter" pitchFamily="34" charset="0"/>
                <a:ea typeface="Inter" pitchFamily="34" charset="-122"/>
                <a:cs typeface="Inter" pitchFamily="34" charset="-120"/>
              </a:rPr>
              <a:t>Capisce cosa le serve</a:t>
            </a:r>
            <a:endParaRPr lang="en-US" sz="1100" dirty="0"/>
          </a:p>
        </p:txBody>
      </p:sp>
      <p:sp>
        <p:nvSpPr>
          <p:cNvPr id="15" name="Text 11"/>
          <p:cNvSpPr/>
          <p:nvPr/>
        </p:nvSpPr>
        <p:spPr>
          <a:xfrm>
            <a:off x="3200400" y="2615184"/>
            <a:ext cx="256032" cy="256032"/>
          </a:xfrm>
          <a:prstGeom prst="ellipse">
            <a:avLst/>
          </a:prstGeom>
          <a:solidFill>
            <a:srgbClr val="222222"/>
          </a:solidFill>
          <a:ln/>
        </p:spPr>
        <p:txBody>
          <a:bodyPr wrap="square" lIns="0" tIns="0" rIns="0" bIns="0" rtlCol="0" anchor="ctr"/>
          <a:lstStyle/>
          <a:p>
            <a:pPr marL="0" indent="0" algn="ctr">
              <a:buNone/>
            </a:pPr>
            <a:r>
              <a:rPr lang="en-US" sz="950" dirty="0">
                <a:solidFill>
                  <a:srgbClr val="FFFFFF"/>
                </a:solidFill>
                <a:latin typeface="Inter SemiBold" pitchFamily="34" charset="0"/>
                <a:ea typeface="Inter SemiBold" pitchFamily="34" charset="-122"/>
                <a:cs typeface="Inter SemiBold" pitchFamily="34" charset="-120"/>
              </a:rPr>
              <a:t>2</a:t>
            </a:r>
            <a:endParaRPr lang="en-US" sz="950" dirty="0"/>
          </a:p>
        </p:txBody>
      </p:sp>
      <p:sp>
        <p:nvSpPr>
          <p:cNvPr id="16" name="Text 12"/>
          <p:cNvSpPr/>
          <p:nvPr/>
        </p:nvSpPr>
        <p:spPr>
          <a:xfrm>
            <a:off x="3584448" y="2542032"/>
            <a:ext cx="2423160" cy="402336"/>
          </a:xfrm>
          <a:prstGeom prst="rect">
            <a:avLst/>
          </a:prstGeom>
          <a:noFill/>
          <a:ln/>
        </p:spPr>
        <p:txBody>
          <a:bodyPr wrap="square" lIns="0" tIns="0" rIns="0" bIns="0" rtlCol="0" anchor="ctr"/>
          <a:lstStyle/>
          <a:p>
            <a:pPr marL="0" indent="0">
              <a:buNone/>
            </a:pPr>
            <a:r>
              <a:rPr lang="en-US" sz="1100" dirty="0">
                <a:solidFill>
                  <a:srgbClr val="222222"/>
                </a:solidFill>
                <a:latin typeface="Inter" pitchFamily="34" charset="0"/>
                <a:ea typeface="Inter" pitchFamily="34" charset="-122"/>
                <a:cs typeface="Inter" pitchFamily="34" charset="-120"/>
              </a:rPr>
              <a:t>Compila la scheda mentre lei parla</a:t>
            </a:r>
            <a:endParaRPr lang="en-US" sz="1100" dirty="0"/>
          </a:p>
        </p:txBody>
      </p:sp>
      <p:sp>
        <p:nvSpPr>
          <p:cNvPr id="17" name="Text 13"/>
          <p:cNvSpPr/>
          <p:nvPr/>
        </p:nvSpPr>
        <p:spPr>
          <a:xfrm>
            <a:off x="3200400" y="3127248"/>
            <a:ext cx="256032" cy="256032"/>
          </a:xfrm>
          <a:prstGeom prst="ellipse">
            <a:avLst/>
          </a:prstGeom>
          <a:solidFill>
            <a:srgbClr val="222222"/>
          </a:solidFill>
          <a:ln/>
        </p:spPr>
        <p:txBody>
          <a:bodyPr wrap="square" lIns="0" tIns="0" rIns="0" bIns="0" rtlCol="0" anchor="ctr"/>
          <a:lstStyle/>
          <a:p>
            <a:pPr marL="0" indent="0" algn="ctr">
              <a:buNone/>
            </a:pPr>
            <a:r>
              <a:rPr lang="en-US" sz="950" dirty="0">
                <a:solidFill>
                  <a:srgbClr val="FFFFFF"/>
                </a:solidFill>
                <a:latin typeface="Inter SemiBold" pitchFamily="34" charset="0"/>
                <a:ea typeface="Inter SemiBold" pitchFamily="34" charset="-122"/>
                <a:cs typeface="Inter SemiBold" pitchFamily="34" charset="-120"/>
              </a:rPr>
              <a:t>3</a:t>
            </a:r>
            <a:endParaRPr lang="en-US" sz="950" dirty="0"/>
          </a:p>
        </p:txBody>
      </p:sp>
      <p:sp>
        <p:nvSpPr>
          <p:cNvPr id="18" name="Text 14"/>
          <p:cNvSpPr/>
          <p:nvPr/>
        </p:nvSpPr>
        <p:spPr>
          <a:xfrm>
            <a:off x="3584448" y="3054096"/>
            <a:ext cx="2423160" cy="402336"/>
          </a:xfrm>
          <a:prstGeom prst="rect">
            <a:avLst/>
          </a:prstGeom>
          <a:noFill/>
          <a:ln/>
        </p:spPr>
        <p:txBody>
          <a:bodyPr wrap="square" lIns="0" tIns="0" rIns="0" bIns="0" rtlCol="0" anchor="ctr"/>
          <a:lstStyle/>
          <a:p>
            <a:pPr marL="0" indent="0">
              <a:buNone/>
            </a:pPr>
            <a:r>
              <a:rPr lang="en-US" sz="1100" dirty="0">
                <a:solidFill>
                  <a:srgbClr val="222222"/>
                </a:solidFill>
                <a:latin typeface="Inter" pitchFamily="34" charset="0"/>
                <a:ea typeface="Inter" pitchFamily="34" charset="-122"/>
                <a:cs typeface="Inter" pitchFamily="34" charset="-120"/>
              </a:rPr>
              <a:t>Legge le fonti ufficiali e gli open data del Comune</a:t>
            </a:r>
            <a:endParaRPr lang="en-US" sz="1100" dirty="0"/>
          </a:p>
        </p:txBody>
      </p:sp>
      <p:sp>
        <p:nvSpPr>
          <p:cNvPr id="19" name="Text 15"/>
          <p:cNvSpPr/>
          <p:nvPr/>
        </p:nvSpPr>
        <p:spPr>
          <a:xfrm>
            <a:off x="3200400" y="3639312"/>
            <a:ext cx="256032" cy="256032"/>
          </a:xfrm>
          <a:prstGeom prst="ellipse">
            <a:avLst/>
          </a:prstGeom>
          <a:solidFill>
            <a:srgbClr val="222222"/>
          </a:solidFill>
          <a:ln/>
        </p:spPr>
        <p:txBody>
          <a:bodyPr wrap="square" lIns="0" tIns="0" rIns="0" bIns="0" rtlCol="0" anchor="ctr"/>
          <a:lstStyle/>
          <a:p>
            <a:pPr marL="0" indent="0" algn="ctr">
              <a:buNone/>
            </a:pPr>
            <a:r>
              <a:rPr lang="en-US" sz="950" dirty="0">
                <a:solidFill>
                  <a:srgbClr val="FFFFFF"/>
                </a:solidFill>
                <a:latin typeface="Inter SemiBold" pitchFamily="34" charset="0"/>
                <a:ea typeface="Inter SemiBold" pitchFamily="34" charset="-122"/>
                <a:cs typeface="Inter SemiBold" pitchFamily="34" charset="-120"/>
              </a:rPr>
              <a:t>4</a:t>
            </a:r>
            <a:endParaRPr lang="en-US" sz="950" dirty="0"/>
          </a:p>
        </p:txBody>
      </p:sp>
      <p:sp>
        <p:nvSpPr>
          <p:cNvPr id="20" name="Text 16"/>
          <p:cNvSpPr/>
          <p:nvPr/>
        </p:nvSpPr>
        <p:spPr>
          <a:xfrm>
            <a:off x="3584448" y="3566160"/>
            <a:ext cx="2423160" cy="402336"/>
          </a:xfrm>
          <a:prstGeom prst="rect">
            <a:avLst/>
          </a:prstGeom>
          <a:noFill/>
          <a:ln/>
        </p:spPr>
        <p:txBody>
          <a:bodyPr wrap="square" lIns="0" tIns="0" rIns="0" bIns="0" rtlCol="0" anchor="ctr"/>
          <a:lstStyle/>
          <a:p>
            <a:pPr marL="0" indent="0">
              <a:buNone/>
            </a:pPr>
            <a:r>
              <a:rPr lang="en-US" sz="1100" dirty="0">
                <a:solidFill>
                  <a:srgbClr val="222222"/>
                </a:solidFill>
                <a:latin typeface="Inter" pitchFamily="34" charset="0"/>
                <a:ea typeface="Inter" pitchFamily="34" charset="-122"/>
                <a:cs typeface="Inter" pitchFamily="34" charset="-120"/>
              </a:rPr>
              <a:t>Compila i moduli dal passaporto</a:t>
            </a:r>
            <a:endParaRPr lang="en-US" sz="1100" dirty="0"/>
          </a:p>
        </p:txBody>
      </p:sp>
      <p:sp>
        <p:nvSpPr>
          <p:cNvPr id="21" name="Text 17"/>
          <p:cNvSpPr/>
          <p:nvPr/>
        </p:nvSpPr>
        <p:spPr>
          <a:xfrm>
            <a:off x="3200400" y="4160520"/>
            <a:ext cx="2834640" cy="292608"/>
          </a:xfrm>
          <a:prstGeom prst="rect">
            <a:avLst/>
          </a:prstGeom>
          <a:noFill/>
          <a:ln/>
        </p:spPr>
        <p:txBody>
          <a:bodyPr wrap="square" lIns="0" tIns="0" rIns="0" bIns="0" rtlCol="0" anchor="t"/>
          <a:lstStyle/>
          <a:p>
            <a:pPr marL="0" indent="0">
              <a:buNone/>
            </a:pPr>
            <a:r>
              <a:rPr lang="en-US" sz="800" dirty="0">
                <a:solidFill>
                  <a:srgbClr val="929292"/>
                </a:solidFill>
                <a:latin typeface="Inter" pitchFamily="34" charset="0"/>
                <a:ea typeface="Inter" pitchFamily="34" charset="-122"/>
                <a:cs typeface="Inter" pitchFamily="34" charset="-120"/>
              </a:rPr>
              <a:t>claude-haiku-4-5 nella voce · claude-sonnet-5-5 per piano e passaporto</a:t>
            </a:r>
            <a:endParaRPr lang="en-US" sz="800" dirty="0"/>
          </a:p>
        </p:txBody>
      </p:sp>
      <p:sp>
        <p:nvSpPr>
          <p:cNvPr id="22" name="Text 18"/>
          <p:cNvSpPr/>
          <p:nvPr/>
        </p:nvSpPr>
        <p:spPr>
          <a:xfrm>
            <a:off x="6190488" y="2830068"/>
            <a:ext cx="329184" cy="329184"/>
          </a:xfrm>
          <a:prstGeom prst="ellipse">
            <a:avLst/>
          </a:prstGeom>
          <a:solidFill>
            <a:srgbClr val="FFFFFF"/>
          </a:solidFill>
          <a:ln w="6350">
            <a:solidFill>
              <a:srgbClr val="EBEBEB"/>
            </a:solidFill>
          </a:ln>
          <a:effectLst>
            <a:outerShdw blurRad="177800" dist="38100" dir="5400000" algn="bl" rotWithShape="0">
              <a:srgbClr val="000000">
                <a:alpha val="12000"/>
              </a:srgbClr>
            </a:outerShdw>
          </a:effectLst>
        </p:spPr>
        <p:txBody>
          <a:bodyPr wrap="square" lIns="0" tIns="0" rIns="0" bIns="0" rtlCol="0" anchor="ctr"/>
          <a:lstStyle/>
          <a:p>
            <a:pPr marL="0" indent="0" algn="ctr">
              <a:buNone/>
            </a:pPr>
            <a:r>
              <a:rPr lang="en-US" sz="1600" dirty="0">
                <a:solidFill>
                  <a:srgbClr val="222222"/>
                </a:solidFill>
                <a:latin typeface="Inter SemiBold" pitchFamily="34" charset="0"/>
                <a:ea typeface="Inter SemiBold" pitchFamily="34" charset="-122"/>
                <a:cs typeface="Inter SemiBold" pitchFamily="34" charset="-120"/>
              </a:rPr>
              <a:t>›</a:t>
            </a:r>
            <a:endParaRPr lang="en-US" sz="1600" dirty="0"/>
          </a:p>
        </p:txBody>
      </p:sp>
      <p:sp>
        <p:nvSpPr>
          <p:cNvPr id="23" name="Shape 19"/>
          <p:cNvSpPr/>
          <p:nvPr/>
        </p:nvSpPr>
        <p:spPr>
          <a:xfrm>
            <a:off x="6537960" y="1417320"/>
            <a:ext cx="2103120" cy="3154680"/>
          </a:xfrm>
          <a:prstGeom prst="roundRect">
            <a:avLst>
              <a:gd name="adj" fmla="val 6957"/>
            </a:avLst>
          </a:prstGeom>
          <a:solidFill>
            <a:srgbClr val="FFFFFF"/>
          </a:solidFill>
          <a:ln w="15875">
            <a:solidFill>
              <a:srgbClr val="A50D26"/>
            </a:solidFill>
            <a:prstDash val="solid"/>
          </a:ln>
          <a:effectLst>
            <a:outerShdw blurRad="177800" dist="38100" dir="5400000" algn="bl" rotWithShape="0">
              <a:srgbClr val="000000">
                <a:alpha val="12000"/>
              </a:srgbClr>
            </a:outerShdw>
          </a:effectLst>
        </p:spPr>
      </p:sp>
      <p:sp>
        <p:nvSpPr>
          <p:cNvPr id="24" name="Text 20"/>
          <p:cNvSpPr/>
          <p:nvPr/>
        </p:nvSpPr>
        <p:spPr>
          <a:xfrm>
            <a:off x="6766560" y="1618488"/>
            <a:ext cx="1737360" cy="566928"/>
          </a:xfrm>
          <a:prstGeom prst="rect">
            <a:avLst/>
          </a:prstGeom>
          <a:noFill/>
          <a:ln/>
        </p:spPr>
        <p:txBody>
          <a:bodyPr wrap="square" lIns="0" tIns="0" rIns="0" bIns="0" rtlCol="0" anchor="t"/>
          <a:lstStyle/>
          <a:p>
            <a:pPr marL="0" indent="0">
              <a:buNone/>
            </a:pPr>
            <a:r>
              <a:rPr lang="en-US" sz="1500" dirty="0">
                <a:solidFill>
                  <a:srgbClr val="A50D26"/>
                </a:solidFill>
                <a:latin typeface="Inter SemiBold" pitchFamily="34" charset="0"/>
                <a:ea typeface="Inter SemiBold" pitchFamily="34" charset="-122"/>
                <a:cs typeface="Inter SemiBold" pitchFamily="34" charset="-120"/>
              </a:rPr>
              <a:t>La persona decide</a:t>
            </a:r>
            <a:endParaRPr lang="en-US" sz="1500" dirty="0"/>
          </a:p>
        </p:txBody>
      </p:sp>
      <p:sp>
        <p:nvSpPr>
          <p:cNvPr id="25" name="Text 21"/>
          <p:cNvSpPr/>
          <p:nvPr/>
        </p:nvSpPr>
        <p:spPr>
          <a:xfrm>
            <a:off x="6766560" y="2423160"/>
            <a:ext cx="256032" cy="256032"/>
          </a:xfrm>
          <a:prstGeom prst="ellipse">
            <a:avLst/>
          </a:prstGeom>
          <a:solidFill>
            <a:srgbClr val="FFC800"/>
          </a:solidFill>
          <a:ln/>
        </p:spPr>
        <p:txBody>
          <a:bodyPr wrap="square" lIns="0" tIns="0" rIns="0" bIns="0" rtlCol="0" anchor="ctr"/>
          <a:lstStyle/>
          <a:p>
            <a:pPr marL="0" indent="0" algn="ctr">
              <a:buNone/>
            </a:pPr>
            <a:r>
              <a:rPr lang="en-US" sz="1000" b="1" dirty="0">
                <a:solidFill>
                  <a:srgbClr val="222222"/>
                </a:solidFill>
                <a:latin typeface="Arial" pitchFamily="34" charset="0"/>
                <a:ea typeface="Arial" pitchFamily="34" charset="-122"/>
                <a:cs typeface="Arial" pitchFamily="34" charset="-120"/>
              </a:rPr>
              <a:t>✓</a:t>
            </a:r>
            <a:endParaRPr lang="en-US" sz="1000" dirty="0"/>
          </a:p>
        </p:txBody>
      </p:sp>
      <p:sp>
        <p:nvSpPr>
          <p:cNvPr id="26" name="Text 22"/>
          <p:cNvSpPr/>
          <p:nvPr/>
        </p:nvSpPr>
        <p:spPr>
          <a:xfrm>
            <a:off x="7132320" y="2340864"/>
            <a:ext cx="1417320" cy="420624"/>
          </a:xfrm>
          <a:prstGeom prst="rect">
            <a:avLst/>
          </a:prstGeom>
          <a:noFill/>
          <a:ln/>
        </p:spPr>
        <p:txBody>
          <a:bodyPr wrap="square" lIns="0" tIns="0" rIns="0" bIns="0" rtlCol="0" anchor="ctr"/>
          <a:lstStyle/>
          <a:p>
            <a:pPr marL="0" indent="0">
              <a:buNone/>
            </a:pPr>
            <a:r>
              <a:rPr lang="en-US" sz="1100" dirty="0">
                <a:solidFill>
                  <a:srgbClr val="222222"/>
                </a:solidFill>
                <a:latin typeface="Inter" pitchFamily="34" charset="0"/>
                <a:ea typeface="Inter" pitchFamily="34" charset="-122"/>
                <a:cs typeface="Inter" pitchFamily="34" charset="-120"/>
              </a:rPr>
              <a:t>Conferma i dati</a:t>
            </a:r>
            <a:endParaRPr lang="en-US" sz="1100" dirty="0"/>
          </a:p>
        </p:txBody>
      </p:sp>
      <p:sp>
        <p:nvSpPr>
          <p:cNvPr id="27" name="Text 23"/>
          <p:cNvSpPr/>
          <p:nvPr/>
        </p:nvSpPr>
        <p:spPr>
          <a:xfrm>
            <a:off x="6766560" y="2990088"/>
            <a:ext cx="256032" cy="256032"/>
          </a:xfrm>
          <a:prstGeom prst="ellipse">
            <a:avLst/>
          </a:prstGeom>
          <a:solidFill>
            <a:srgbClr val="FFC800"/>
          </a:solidFill>
          <a:ln/>
        </p:spPr>
        <p:txBody>
          <a:bodyPr wrap="square" lIns="0" tIns="0" rIns="0" bIns="0" rtlCol="0" anchor="ctr"/>
          <a:lstStyle/>
          <a:p>
            <a:pPr marL="0" indent="0" algn="ctr">
              <a:buNone/>
            </a:pPr>
            <a:r>
              <a:rPr lang="en-US" sz="1000" b="1" dirty="0">
                <a:solidFill>
                  <a:srgbClr val="222222"/>
                </a:solidFill>
                <a:latin typeface="Arial" pitchFamily="34" charset="0"/>
                <a:ea typeface="Arial" pitchFamily="34" charset="-122"/>
                <a:cs typeface="Arial" pitchFamily="34" charset="-120"/>
              </a:rPr>
              <a:t>✓</a:t>
            </a:r>
            <a:endParaRPr lang="en-US" sz="1000" dirty="0"/>
          </a:p>
        </p:txBody>
      </p:sp>
      <p:sp>
        <p:nvSpPr>
          <p:cNvPr id="28" name="Text 24"/>
          <p:cNvSpPr/>
          <p:nvPr/>
        </p:nvSpPr>
        <p:spPr>
          <a:xfrm>
            <a:off x="7132320" y="2907792"/>
            <a:ext cx="1417320" cy="420624"/>
          </a:xfrm>
          <a:prstGeom prst="rect">
            <a:avLst/>
          </a:prstGeom>
          <a:noFill/>
          <a:ln/>
        </p:spPr>
        <p:txBody>
          <a:bodyPr wrap="square" lIns="0" tIns="0" rIns="0" bIns="0" rtlCol="0" anchor="ctr"/>
          <a:lstStyle/>
          <a:p>
            <a:pPr marL="0" indent="0">
              <a:buNone/>
            </a:pPr>
            <a:r>
              <a:rPr lang="en-US" sz="1100" dirty="0">
                <a:solidFill>
                  <a:srgbClr val="222222"/>
                </a:solidFill>
                <a:latin typeface="Inter" pitchFamily="34" charset="0"/>
                <a:ea typeface="Inter" pitchFamily="34" charset="-122"/>
                <a:cs typeface="Inter" pitchFamily="34" charset="-120"/>
              </a:rPr>
              <a:t>Firma i moduli</a:t>
            </a:r>
            <a:endParaRPr lang="en-US" sz="1100" dirty="0"/>
          </a:p>
        </p:txBody>
      </p:sp>
      <p:sp>
        <p:nvSpPr>
          <p:cNvPr id="29" name="Text 25"/>
          <p:cNvSpPr/>
          <p:nvPr/>
        </p:nvSpPr>
        <p:spPr>
          <a:xfrm>
            <a:off x="6766560" y="3557016"/>
            <a:ext cx="256032" cy="256032"/>
          </a:xfrm>
          <a:prstGeom prst="ellipse">
            <a:avLst/>
          </a:prstGeom>
          <a:solidFill>
            <a:srgbClr val="FFC800"/>
          </a:solidFill>
          <a:ln/>
        </p:spPr>
        <p:txBody>
          <a:bodyPr wrap="square" lIns="0" tIns="0" rIns="0" bIns="0" rtlCol="0" anchor="ctr"/>
          <a:lstStyle/>
          <a:p>
            <a:pPr marL="0" indent="0" algn="ctr">
              <a:buNone/>
            </a:pPr>
            <a:r>
              <a:rPr lang="en-US" sz="1000" b="1" dirty="0">
                <a:solidFill>
                  <a:srgbClr val="222222"/>
                </a:solidFill>
                <a:latin typeface="Arial" pitchFamily="34" charset="0"/>
                <a:ea typeface="Arial" pitchFamily="34" charset="-122"/>
                <a:cs typeface="Arial" pitchFamily="34" charset="-120"/>
              </a:rPr>
              <a:t>✓</a:t>
            </a:r>
            <a:endParaRPr lang="en-US" sz="1000" dirty="0"/>
          </a:p>
        </p:txBody>
      </p:sp>
      <p:sp>
        <p:nvSpPr>
          <p:cNvPr id="30" name="Text 26"/>
          <p:cNvSpPr/>
          <p:nvPr/>
        </p:nvSpPr>
        <p:spPr>
          <a:xfrm>
            <a:off x="7132320" y="3474720"/>
            <a:ext cx="1417320" cy="420624"/>
          </a:xfrm>
          <a:prstGeom prst="rect">
            <a:avLst/>
          </a:prstGeom>
          <a:noFill/>
          <a:ln/>
        </p:spPr>
        <p:txBody>
          <a:bodyPr wrap="square" lIns="0" tIns="0" rIns="0" bIns="0" rtlCol="0" anchor="ctr"/>
          <a:lstStyle/>
          <a:p>
            <a:pPr marL="0" indent="0">
              <a:buNone/>
            </a:pPr>
            <a:r>
              <a:rPr lang="en-US" sz="1100" dirty="0">
                <a:solidFill>
                  <a:srgbClr val="222222"/>
                </a:solidFill>
                <a:latin typeface="Inter" pitchFamily="34" charset="0"/>
                <a:ea typeface="Inter" pitchFamily="34" charset="-122"/>
                <a:cs typeface="Inter" pitchFamily="34" charset="-120"/>
              </a:rPr>
              <a:t>Spegne la voce quando vuole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65760"/>
            <a:ext cx="5486400" cy="237744"/>
          </a:xfrm>
          <a:prstGeom prst="rect">
            <a:avLst/>
          </a:prstGeom>
          <a:noFill/>
          <a:ln/>
        </p:spPr>
        <p:txBody>
          <a:bodyPr wrap="square" lIns="0" tIns="0" rIns="0" bIns="0" rtlCol="0" anchor="ctr"/>
          <a:lstStyle/>
          <a:p>
            <a:pPr marL="0" indent="0">
              <a:buNone/>
            </a:pPr>
            <a:r>
              <a:rPr lang="en-US" sz="1100" dirty="0">
                <a:solidFill>
                  <a:srgbClr val="6A6A6A"/>
                </a:solidFill>
                <a:latin typeface="Inter Medium" pitchFamily="34" charset="0"/>
                <a:ea typeface="Inter Medium" pitchFamily="34" charset="-122"/>
                <a:cs typeface="Inter Medium" pitchFamily="34" charset="-120"/>
              </a:rPr>
              <a:t>Il primo giorno per il Comune</a:t>
            </a:r>
            <a:endParaRPr lang="en-US" sz="1100" dirty="0"/>
          </a:p>
        </p:txBody>
      </p:sp>
      <p:sp>
        <p:nvSpPr>
          <p:cNvPr id="3" name="Text 1"/>
          <p:cNvSpPr/>
          <p:nvPr/>
        </p:nvSpPr>
        <p:spPr>
          <a:xfrm>
            <a:off x="5852160" y="347472"/>
            <a:ext cx="2468880" cy="274320"/>
          </a:xfrm>
          <a:prstGeom prst="rect">
            <a:avLst/>
          </a:prstGeom>
          <a:noFill/>
          <a:ln/>
        </p:spPr>
        <p:txBody>
          <a:bodyPr wrap="square" lIns="0" tIns="0" rIns="0" bIns="0" rtlCol="0" anchor="ctr"/>
          <a:lstStyle/>
          <a:p>
            <a:pPr marL="0" indent="0" algn="r">
              <a:buNone/>
            </a:pPr>
            <a:r>
              <a:rPr lang="en-US" sz="1000" dirty="0">
                <a:solidFill>
                  <a:srgbClr val="222222"/>
                </a:solidFill>
                <a:latin typeface="Inter SemiBold" pitchFamily="34" charset="0"/>
                <a:ea typeface="Inter SemiBold" pitchFamily="34" charset="-122"/>
                <a:cs typeface="Inter SemiBold" pitchFamily="34" charset="-120"/>
              </a:rPr>
              <a:t>Milano Evolution</a:t>
            </a:r>
            <a:endParaRPr lang="en-US" sz="1000" dirty="0"/>
          </a:p>
        </p:txBody>
      </p:sp>
      <p:pic>
        <p:nvPicPr>
          <p:cNvPr id="4" name="Image 0" descr="/home/thomas/milano-evolution/pitch/assets/logo.png"/>
          <p:cNvPicPr>
            <a:picLocks noChangeAspect="1"/>
          </p:cNvPicPr>
          <p:nvPr/>
        </p:nvPicPr>
        <p:blipFill>
          <a:blip r:embed="rId3"/>
          <a:stretch>
            <a:fillRect/>
          </a:stretch>
        </p:blipFill>
        <p:spPr>
          <a:xfrm>
            <a:off x="8385048" y="338328"/>
            <a:ext cx="274320" cy="274320"/>
          </a:xfrm>
          <a:prstGeom prst="rect">
            <a:avLst/>
          </a:prstGeom>
        </p:spPr>
      </p:pic>
      <p:sp>
        <p:nvSpPr>
          <p:cNvPr id="5" name="Text 2"/>
          <p:cNvSpPr/>
          <p:nvPr/>
        </p:nvSpPr>
        <p:spPr>
          <a:xfrm>
            <a:off x="502920" y="658368"/>
            <a:ext cx="4114800" cy="1051560"/>
          </a:xfrm>
          <a:prstGeom prst="rect">
            <a:avLst/>
          </a:prstGeom>
          <a:noFill/>
          <a:ln/>
        </p:spPr>
        <p:txBody>
          <a:bodyPr wrap="square" lIns="0" tIns="0" rIns="0" bIns="0" rtlCol="0" anchor="t"/>
          <a:lstStyle/>
          <a:p>
            <a:pPr marL="0" indent="0">
              <a:buNone/>
            </a:pPr>
            <a:r>
              <a:rPr lang="en-US" sz="2800" dirty="0">
                <a:solidFill>
                  <a:srgbClr val="222222"/>
                </a:solidFill>
                <a:latin typeface="Inter SemiBold" pitchFamily="34" charset="0"/>
                <a:ea typeface="Inter SemiBold" pitchFamily="34" charset="-122"/>
                <a:cs typeface="Inter SemiBold" pitchFamily="34" charset="-120"/>
              </a:rPr>
              <a:t>Per partire basta un link.</a:t>
            </a:r>
            <a:endParaRPr lang="en-US" sz="2800" dirty="0"/>
          </a:p>
        </p:txBody>
      </p:sp>
      <p:pic>
        <p:nvPicPr>
          <p:cNvPr id="6" name="Image 1" descr="/home/thomas/milano-evolution/pitch/assets/step3-papers.png"/>
          <p:cNvPicPr>
            <a:picLocks noChangeAspect="1"/>
          </p:cNvPicPr>
          <p:nvPr/>
        </p:nvPicPr>
        <p:blipFill>
          <a:blip r:embed="rId4"/>
          <a:stretch>
            <a:fillRect/>
          </a:stretch>
        </p:blipFill>
        <p:spPr>
          <a:xfrm>
            <a:off x="411480" y="1783080"/>
            <a:ext cx="3383280" cy="2524773"/>
          </a:xfrm>
          <a:prstGeom prst="rect">
            <a:avLst/>
          </a:prstGeom>
        </p:spPr>
      </p:pic>
      <p:sp>
        <p:nvSpPr>
          <p:cNvPr id="7" name="Text 3"/>
          <p:cNvSpPr/>
          <p:nvPr/>
        </p:nvSpPr>
        <p:spPr>
          <a:xfrm>
            <a:off x="594360" y="4206240"/>
            <a:ext cx="1691640" cy="365760"/>
          </a:xfrm>
          <a:prstGeom prst="roundRect">
            <a:avLst>
              <a:gd name="adj" fmla="val 50000"/>
            </a:avLst>
          </a:prstGeom>
          <a:solidFill>
            <a:srgbClr val="FFFFFF"/>
          </a:solidFill>
          <a:ln w="6350">
            <a:solidFill>
              <a:srgbClr val="EBEBEB"/>
            </a:solidFill>
          </a:ln>
          <a:effectLst>
            <a:outerShdw blurRad="177800" dist="38100" dir="5400000" algn="bl" rotWithShape="0">
              <a:srgbClr val="000000">
                <a:alpha val="12000"/>
              </a:srgbClr>
            </a:outerShdw>
          </a:effectLst>
        </p:spPr>
        <p:txBody>
          <a:bodyPr wrap="square" lIns="0" tIns="0" rIns="0" bIns="0" rtlCol="0" anchor="ctr"/>
          <a:lstStyle/>
          <a:p>
            <a:pPr marL="0" indent="0" algn="ctr">
              <a:buNone/>
            </a:pPr>
            <a:r>
              <a:rPr lang="en-US" sz="1050" dirty="0">
                <a:solidFill>
                  <a:srgbClr val="222222"/>
                </a:solidFill>
                <a:latin typeface="Inter Medium" pitchFamily="34" charset="0"/>
                <a:ea typeface="Inter Medium" pitchFamily="34" charset="-122"/>
                <a:cs typeface="Inter Medium" pitchFamily="34" charset="-120"/>
              </a:rPr>
              <a:t>Email di benvenuto</a:t>
            </a:r>
            <a:endParaRPr lang="en-US" sz="1050" dirty="0"/>
          </a:p>
        </p:txBody>
      </p:sp>
      <p:sp>
        <p:nvSpPr>
          <p:cNvPr id="8" name="Text 4"/>
          <p:cNvSpPr/>
          <p:nvPr/>
        </p:nvSpPr>
        <p:spPr>
          <a:xfrm>
            <a:off x="2423160" y="4206240"/>
            <a:ext cx="1143000" cy="365760"/>
          </a:xfrm>
          <a:prstGeom prst="roundRect">
            <a:avLst>
              <a:gd name="adj" fmla="val 50000"/>
            </a:avLst>
          </a:prstGeom>
          <a:solidFill>
            <a:srgbClr val="FFFFFF"/>
          </a:solidFill>
          <a:ln w="6350">
            <a:solidFill>
              <a:srgbClr val="EBEBEB"/>
            </a:solidFill>
          </a:ln>
          <a:effectLst>
            <a:outerShdw blurRad="177800" dist="38100" dir="5400000" algn="bl" rotWithShape="0">
              <a:srgbClr val="000000">
                <a:alpha val="12000"/>
              </a:srgbClr>
            </a:outerShdw>
          </a:effectLst>
        </p:spPr>
        <p:txBody>
          <a:bodyPr wrap="square" lIns="0" tIns="0" rIns="0" bIns="0" rtlCol="0" anchor="ctr"/>
          <a:lstStyle/>
          <a:p>
            <a:pPr marL="0" indent="0" algn="ctr">
              <a:buNone/>
            </a:pPr>
            <a:r>
              <a:rPr lang="en-US" sz="1050" dirty="0">
                <a:solidFill>
                  <a:srgbClr val="222222"/>
                </a:solidFill>
                <a:latin typeface="Inter Medium" pitchFamily="34" charset="0"/>
                <a:ea typeface="Inter Medium" pitchFamily="34" charset="-122"/>
                <a:cs typeface="Inter Medium" pitchFamily="34" charset="-120"/>
              </a:rPr>
              <a:t>YesMilano</a:t>
            </a:r>
            <a:endParaRPr lang="en-US" sz="1050" dirty="0"/>
          </a:p>
        </p:txBody>
      </p:sp>
      <p:sp>
        <p:nvSpPr>
          <p:cNvPr id="9" name="Text 5"/>
          <p:cNvSpPr/>
          <p:nvPr/>
        </p:nvSpPr>
        <p:spPr>
          <a:xfrm>
            <a:off x="4800600" y="749808"/>
            <a:ext cx="3840480" cy="274320"/>
          </a:xfrm>
          <a:prstGeom prst="rect">
            <a:avLst/>
          </a:prstGeom>
          <a:noFill/>
          <a:ln/>
        </p:spPr>
        <p:txBody>
          <a:bodyPr wrap="square" lIns="0" tIns="0" rIns="0" bIns="0" rtlCol="0" anchor="ctr"/>
          <a:lstStyle/>
          <a:p>
            <a:pPr marL="0" indent="0">
              <a:buNone/>
            </a:pPr>
            <a:r>
              <a:rPr lang="en-US" sz="1200" dirty="0">
                <a:solidFill>
                  <a:srgbClr val="6A6A6A"/>
                </a:solidFill>
                <a:latin typeface="Inter SemiBold" pitchFamily="34" charset="0"/>
                <a:ea typeface="Inter SemiBold" pitchFamily="34" charset="-122"/>
                <a:cs typeface="Inter SemiBold" pitchFamily="34" charset="-120"/>
              </a:rPr>
              <a:t>Dati che servirebbero</a:t>
            </a:r>
            <a:endParaRPr lang="en-US" sz="1200" dirty="0"/>
          </a:p>
        </p:txBody>
      </p:sp>
      <p:sp>
        <p:nvSpPr>
          <p:cNvPr id="10" name="Text 6"/>
          <p:cNvSpPr/>
          <p:nvPr/>
        </p:nvSpPr>
        <p:spPr>
          <a:xfrm>
            <a:off x="4800600" y="1243584"/>
            <a:ext cx="457200" cy="502920"/>
          </a:xfrm>
          <a:prstGeom prst="rect">
            <a:avLst/>
          </a:prstGeom>
          <a:noFill/>
          <a:ln/>
        </p:spPr>
        <p:txBody>
          <a:bodyPr wrap="square" lIns="0" tIns="0" rIns="0" bIns="0" rtlCol="0" anchor="t"/>
          <a:lstStyle/>
          <a:p>
            <a:pPr marL="0" indent="0">
              <a:buNone/>
            </a:pPr>
            <a:r>
              <a:rPr lang="en-US" sz="2600" dirty="0">
                <a:solidFill>
                  <a:srgbClr val="A50D26"/>
                </a:solidFill>
                <a:latin typeface="Inter SemiBold" pitchFamily="34" charset="0"/>
                <a:ea typeface="Inter SemiBold" pitchFamily="34" charset="-122"/>
                <a:cs typeface="Inter SemiBold" pitchFamily="34" charset="-120"/>
              </a:rPr>
              <a:t>1</a:t>
            </a:r>
            <a:endParaRPr lang="en-US" sz="2600" dirty="0"/>
          </a:p>
        </p:txBody>
      </p:sp>
      <p:sp>
        <p:nvSpPr>
          <p:cNvPr id="11" name="Text 7"/>
          <p:cNvSpPr/>
          <p:nvPr/>
        </p:nvSpPr>
        <p:spPr>
          <a:xfrm>
            <a:off x="5349240" y="1280160"/>
            <a:ext cx="3291840" cy="292608"/>
          </a:xfrm>
          <a:prstGeom prst="rect">
            <a:avLst/>
          </a:prstGeom>
          <a:noFill/>
          <a:ln/>
        </p:spPr>
        <p:txBody>
          <a:bodyPr wrap="square" lIns="0" tIns="0" rIns="0" bIns="0" rtlCol="0" anchor="t"/>
          <a:lstStyle/>
          <a:p>
            <a:pPr marL="0" indent="0">
              <a:buNone/>
            </a:pPr>
            <a:r>
              <a:rPr lang="en-US" sz="1400" dirty="0">
                <a:solidFill>
                  <a:srgbClr val="222222"/>
                </a:solidFill>
                <a:latin typeface="Inter SemiBold" pitchFamily="34" charset="0"/>
                <a:ea typeface="Inter SemiBold" pitchFamily="34" charset="-122"/>
                <a:cs typeface="Inter SemiBold" pitchFamily="34" charset="-120"/>
              </a:rPr>
              <a:t>SPID o CIE, e ANPR via PDND</a:t>
            </a:r>
            <a:endParaRPr lang="en-US" sz="1400" dirty="0"/>
          </a:p>
        </p:txBody>
      </p:sp>
      <p:sp>
        <p:nvSpPr>
          <p:cNvPr id="12" name="Text 8"/>
          <p:cNvSpPr/>
          <p:nvPr/>
        </p:nvSpPr>
        <p:spPr>
          <a:xfrm>
            <a:off x="5349240" y="1627632"/>
            <a:ext cx="3291840" cy="384048"/>
          </a:xfrm>
          <a:prstGeom prst="rect">
            <a:avLst/>
          </a:prstGeom>
          <a:noFill/>
          <a:ln/>
        </p:spPr>
        <p:txBody>
          <a:bodyPr wrap="square" lIns="0" tIns="0" rIns="0" bIns="0" rtlCol="0" anchor="t"/>
          <a:lstStyle/>
          <a:p>
            <a:pPr marL="0" indent="0">
              <a:buNone/>
            </a:pPr>
            <a:r>
              <a:rPr lang="en-US" sz="1050" dirty="0">
                <a:solidFill>
                  <a:srgbClr val="6A6A6A"/>
                </a:solidFill>
                <a:latin typeface="Inter" pitchFamily="34" charset="0"/>
                <a:ea typeface="Inter" pitchFamily="34" charset="-122"/>
                <a:cs typeface="Inter" pitchFamily="34" charset="-120"/>
              </a:rPr>
              <a:t>Once-only: la PA non chiede di nuovo quello che sa</a:t>
            </a:r>
            <a:endParaRPr lang="en-US" sz="1050" dirty="0"/>
          </a:p>
        </p:txBody>
      </p:sp>
      <p:sp>
        <p:nvSpPr>
          <p:cNvPr id="13" name="Shape 9"/>
          <p:cNvSpPr/>
          <p:nvPr/>
        </p:nvSpPr>
        <p:spPr>
          <a:xfrm>
            <a:off x="4800600" y="2157984"/>
            <a:ext cx="3840480" cy="0"/>
          </a:xfrm>
          <a:prstGeom prst="line">
            <a:avLst/>
          </a:prstGeom>
          <a:noFill/>
          <a:ln w="9525">
            <a:solidFill>
              <a:srgbClr val="EBEBEB"/>
            </a:solidFill>
            <a:prstDash val="solid"/>
          </a:ln>
        </p:spPr>
      </p:sp>
      <p:sp>
        <p:nvSpPr>
          <p:cNvPr id="14" name="Text 10"/>
          <p:cNvSpPr/>
          <p:nvPr/>
        </p:nvSpPr>
        <p:spPr>
          <a:xfrm>
            <a:off x="4800600" y="2322576"/>
            <a:ext cx="457200" cy="502920"/>
          </a:xfrm>
          <a:prstGeom prst="rect">
            <a:avLst/>
          </a:prstGeom>
          <a:noFill/>
          <a:ln/>
        </p:spPr>
        <p:txBody>
          <a:bodyPr wrap="square" lIns="0" tIns="0" rIns="0" bIns="0" rtlCol="0" anchor="t"/>
          <a:lstStyle/>
          <a:p>
            <a:pPr marL="0" indent="0">
              <a:buNone/>
            </a:pPr>
            <a:r>
              <a:rPr lang="en-US" sz="2600" dirty="0">
                <a:solidFill>
                  <a:srgbClr val="A50D26"/>
                </a:solidFill>
                <a:latin typeface="Inter SemiBold" pitchFamily="34" charset="0"/>
                <a:ea typeface="Inter SemiBold" pitchFamily="34" charset="-122"/>
                <a:cs typeface="Inter SemiBold" pitchFamily="34" charset="-120"/>
              </a:rPr>
              <a:t>2</a:t>
            </a:r>
            <a:endParaRPr lang="en-US" sz="2600" dirty="0"/>
          </a:p>
        </p:txBody>
      </p:sp>
      <p:sp>
        <p:nvSpPr>
          <p:cNvPr id="15" name="Text 11"/>
          <p:cNvSpPr/>
          <p:nvPr/>
        </p:nvSpPr>
        <p:spPr>
          <a:xfrm>
            <a:off x="5349240" y="2359152"/>
            <a:ext cx="3291840" cy="292608"/>
          </a:xfrm>
          <a:prstGeom prst="rect">
            <a:avLst/>
          </a:prstGeom>
          <a:noFill/>
          <a:ln/>
        </p:spPr>
        <p:txBody>
          <a:bodyPr wrap="square" lIns="0" tIns="0" rIns="0" bIns="0" rtlCol="0" anchor="t"/>
          <a:lstStyle/>
          <a:p>
            <a:pPr marL="0" indent="0">
              <a:buNone/>
            </a:pPr>
            <a:r>
              <a:rPr lang="en-US" sz="1400" dirty="0">
                <a:solidFill>
                  <a:srgbClr val="222222"/>
                </a:solidFill>
                <a:latin typeface="Inter SemiBold" pitchFamily="34" charset="0"/>
                <a:ea typeface="Inter SemiBold" pitchFamily="34" charset="-122"/>
                <a:cs typeface="Inter SemiBold" pitchFamily="34" charset="-120"/>
              </a:rPr>
              <a:t>Un feed unico degli eventi</a:t>
            </a:r>
            <a:endParaRPr lang="en-US" sz="1400" dirty="0"/>
          </a:p>
        </p:txBody>
      </p:sp>
      <p:sp>
        <p:nvSpPr>
          <p:cNvPr id="16" name="Text 12"/>
          <p:cNvSpPr/>
          <p:nvPr/>
        </p:nvSpPr>
        <p:spPr>
          <a:xfrm>
            <a:off x="5349240" y="2706624"/>
            <a:ext cx="3291840" cy="384048"/>
          </a:xfrm>
          <a:prstGeom prst="rect">
            <a:avLst/>
          </a:prstGeom>
          <a:noFill/>
          <a:ln/>
        </p:spPr>
        <p:txBody>
          <a:bodyPr wrap="square" lIns="0" tIns="0" rIns="0" bIns="0" rtlCol="0" anchor="t"/>
          <a:lstStyle/>
          <a:p>
            <a:pPr marL="0" indent="0">
              <a:buNone/>
            </a:pPr>
            <a:r>
              <a:rPr lang="en-US" sz="1050" dirty="0">
                <a:solidFill>
                  <a:srgbClr val="6A6A6A"/>
                </a:solidFill>
                <a:latin typeface="Inter" pitchFamily="34" charset="0"/>
                <a:ea typeface="Inter" pitchFamily="34" charset="-122"/>
                <a:cs typeface="Inter" pitchFamily="34" charset="-120"/>
              </a:rPr>
              <a:t>Oggi negli open data del Comune non c'è</a:t>
            </a:r>
            <a:endParaRPr lang="en-US" sz="1050" dirty="0"/>
          </a:p>
        </p:txBody>
      </p:sp>
      <p:sp>
        <p:nvSpPr>
          <p:cNvPr id="17" name="Shape 13"/>
          <p:cNvSpPr/>
          <p:nvPr/>
        </p:nvSpPr>
        <p:spPr>
          <a:xfrm>
            <a:off x="4800600" y="3236976"/>
            <a:ext cx="3840480" cy="0"/>
          </a:xfrm>
          <a:prstGeom prst="line">
            <a:avLst/>
          </a:prstGeom>
          <a:noFill/>
          <a:ln w="9525">
            <a:solidFill>
              <a:srgbClr val="EBEBEB"/>
            </a:solidFill>
            <a:prstDash val="solid"/>
          </a:ln>
        </p:spPr>
      </p:sp>
      <p:sp>
        <p:nvSpPr>
          <p:cNvPr id="18" name="Text 14"/>
          <p:cNvSpPr/>
          <p:nvPr/>
        </p:nvSpPr>
        <p:spPr>
          <a:xfrm>
            <a:off x="4800600" y="3401568"/>
            <a:ext cx="457200" cy="502920"/>
          </a:xfrm>
          <a:prstGeom prst="rect">
            <a:avLst/>
          </a:prstGeom>
          <a:noFill/>
          <a:ln/>
        </p:spPr>
        <p:txBody>
          <a:bodyPr wrap="square" lIns="0" tIns="0" rIns="0" bIns="0" rtlCol="0" anchor="t"/>
          <a:lstStyle/>
          <a:p>
            <a:pPr marL="0" indent="0">
              <a:buNone/>
            </a:pPr>
            <a:r>
              <a:rPr lang="en-US" sz="2600" dirty="0">
                <a:solidFill>
                  <a:srgbClr val="A50D26"/>
                </a:solidFill>
                <a:latin typeface="Inter SemiBold" pitchFamily="34" charset="0"/>
                <a:ea typeface="Inter SemiBold" pitchFamily="34" charset="-122"/>
                <a:cs typeface="Inter SemiBold" pitchFamily="34" charset="-120"/>
              </a:rPr>
              <a:t>3</a:t>
            </a:r>
            <a:endParaRPr lang="en-US" sz="2600" dirty="0"/>
          </a:p>
        </p:txBody>
      </p:sp>
      <p:sp>
        <p:nvSpPr>
          <p:cNvPr id="19" name="Text 15"/>
          <p:cNvSpPr/>
          <p:nvPr/>
        </p:nvSpPr>
        <p:spPr>
          <a:xfrm>
            <a:off x="5349240" y="3438144"/>
            <a:ext cx="3291840" cy="292608"/>
          </a:xfrm>
          <a:prstGeom prst="rect">
            <a:avLst/>
          </a:prstGeom>
          <a:noFill/>
          <a:ln/>
        </p:spPr>
        <p:txBody>
          <a:bodyPr wrap="square" lIns="0" tIns="0" rIns="0" bIns="0" rtlCol="0" anchor="t"/>
          <a:lstStyle/>
          <a:p>
            <a:pPr marL="0" indent="0">
              <a:buNone/>
            </a:pPr>
            <a:r>
              <a:rPr lang="en-US" sz="1400" dirty="0">
                <a:solidFill>
                  <a:srgbClr val="222222"/>
                </a:solidFill>
                <a:latin typeface="Inter SemiBold" pitchFamily="34" charset="0"/>
                <a:ea typeface="Inter SemiBold" pitchFamily="34" charset="-122"/>
                <a:cs typeface="Inter SemiBold" pitchFamily="34" charset="-120"/>
              </a:rPr>
              <a:t>Il consenso della persona</a:t>
            </a:r>
            <a:endParaRPr lang="en-US" sz="1400" dirty="0"/>
          </a:p>
        </p:txBody>
      </p:sp>
      <p:sp>
        <p:nvSpPr>
          <p:cNvPr id="20" name="Text 16"/>
          <p:cNvSpPr/>
          <p:nvPr/>
        </p:nvSpPr>
        <p:spPr>
          <a:xfrm>
            <a:off x="5349240" y="3785616"/>
            <a:ext cx="3291840" cy="384048"/>
          </a:xfrm>
          <a:prstGeom prst="rect">
            <a:avLst/>
          </a:prstGeom>
          <a:noFill/>
          <a:ln/>
        </p:spPr>
        <p:txBody>
          <a:bodyPr wrap="square" lIns="0" tIns="0" rIns="0" bIns="0" rtlCol="0" anchor="t"/>
          <a:lstStyle/>
          <a:p>
            <a:pPr marL="0" indent="0">
              <a:buNone/>
            </a:pPr>
            <a:r>
              <a:rPr lang="en-US" sz="1050" dirty="0">
                <a:solidFill>
                  <a:srgbClr val="6A6A6A"/>
                </a:solidFill>
                <a:latin typeface="Inter" pitchFamily="34" charset="0"/>
                <a:ea typeface="Inter" pitchFamily="34" charset="-122"/>
                <a:cs typeface="Inter" pitchFamily="34" charset="-120"/>
              </a:rPr>
              <a:t>Per farsi trovare dalle aziende, se lo vuole lei</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65760"/>
            <a:ext cx="5486400" cy="237744"/>
          </a:xfrm>
          <a:prstGeom prst="rect">
            <a:avLst/>
          </a:prstGeom>
          <a:noFill/>
          <a:ln/>
        </p:spPr>
        <p:txBody>
          <a:bodyPr wrap="square" lIns="0" tIns="0" rIns="0" bIns="0" rtlCol="0" anchor="ctr"/>
          <a:lstStyle/>
          <a:p>
            <a:pPr marL="0" indent="0">
              <a:buNone/>
            </a:pPr>
            <a:r>
              <a:rPr lang="en-US" sz="1100" dirty="0">
                <a:solidFill>
                  <a:srgbClr val="6A6A6A"/>
                </a:solidFill>
                <a:latin typeface="Inter Medium" pitchFamily="34" charset="0"/>
                <a:ea typeface="Inter Medium" pitchFamily="34" charset="-122"/>
                <a:cs typeface="Inter Medium" pitchFamily="34" charset="-120"/>
              </a:rPr>
              <a:t>Dove va · riserva per le domande</a:t>
            </a:r>
            <a:endParaRPr lang="en-US" sz="1100" dirty="0"/>
          </a:p>
        </p:txBody>
      </p:sp>
      <p:sp>
        <p:nvSpPr>
          <p:cNvPr id="3" name="Text 1"/>
          <p:cNvSpPr/>
          <p:nvPr/>
        </p:nvSpPr>
        <p:spPr>
          <a:xfrm>
            <a:off x="5852160" y="347472"/>
            <a:ext cx="2468880" cy="274320"/>
          </a:xfrm>
          <a:prstGeom prst="rect">
            <a:avLst/>
          </a:prstGeom>
          <a:noFill/>
          <a:ln/>
        </p:spPr>
        <p:txBody>
          <a:bodyPr wrap="square" lIns="0" tIns="0" rIns="0" bIns="0" rtlCol="0" anchor="ctr"/>
          <a:lstStyle/>
          <a:p>
            <a:pPr marL="0" indent="0" algn="r">
              <a:buNone/>
            </a:pPr>
            <a:r>
              <a:rPr lang="en-US" sz="1000" dirty="0">
                <a:solidFill>
                  <a:srgbClr val="222222"/>
                </a:solidFill>
                <a:latin typeface="Inter SemiBold" pitchFamily="34" charset="0"/>
                <a:ea typeface="Inter SemiBold" pitchFamily="34" charset="-122"/>
                <a:cs typeface="Inter SemiBold" pitchFamily="34" charset="-120"/>
              </a:rPr>
              <a:t>Milano Evolution</a:t>
            </a:r>
            <a:endParaRPr lang="en-US" sz="1000" dirty="0"/>
          </a:p>
        </p:txBody>
      </p:sp>
      <p:pic>
        <p:nvPicPr>
          <p:cNvPr id="4" name="Image 0" descr="/home/thomas/milano-evolution/pitch/assets/logo.png"/>
          <p:cNvPicPr>
            <a:picLocks noChangeAspect="1"/>
          </p:cNvPicPr>
          <p:nvPr/>
        </p:nvPicPr>
        <p:blipFill>
          <a:blip r:embed="rId3"/>
          <a:stretch>
            <a:fillRect/>
          </a:stretch>
        </p:blipFill>
        <p:spPr>
          <a:xfrm>
            <a:off x="8385048" y="338328"/>
            <a:ext cx="274320" cy="274320"/>
          </a:xfrm>
          <a:prstGeom prst="rect">
            <a:avLst/>
          </a:prstGeom>
        </p:spPr>
      </p:pic>
      <p:sp>
        <p:nvSpPr>
          <p:cNvPr id="5" name="Text 2"/>
          <p:cNvSpPr/>
          <p:nvPr/>
        </p:nvSpPr>
        <p:spPr>
          <a:xfrm>
            <a:off x="502920" y="658368"/>
            <a:ext cx="8138160" cy="566928"/>
          </a:xfrm>
          <a:prstGeom prst="rect">
            <a:avLst/>
          </a:prstGeom>
          <a:noFill/>
          <a:ln/>
        </p:spPr>
        <p:txBody>
          <a:bodyPr wrap="square" lIns="0" tIns="0" rIns="0" bIns="0" rtlCol="0" anchor="t"/>
          <a:lstStyle/>
          <a:p>
            <a:pPr marL="0" indent="0">
              <a:buNone/>
            </a:pPr>
            <a:r>
              <a:rPr lang="en-US" sz="2800" dirty="0">
                <a:solidFill>
                  <a:srgbClr val="222222"/>
                </a:solidFill>
                <a:latin typeface="Inter SemiBold" pitchFamily="34" charset="0"/>
                <a:ea typeface="Inter SemiBold" pitchFamily="34" charset="-122"/>
                <a:cs typeface="Inter SemiBold" pitchFamily="34" charset="-120"/>
              </a:rPr>
              <a:t>Poi Nour resta a Milano.</a:t>
            </a:r>
            <a:endParaRPr lang="en-US" sz="2800" dirty="0"/>
          </a:p>
        </p:txBody>
      </p:sp>
      <p:sp>
        <p:nvSpPr>
          <p:cNvPr id="6" name="Shape 3"/>
          <p:cNvSpPr/>
          <p:nvPr/>
        </p:nvSpPr>
        <p:spPr>
          <a:xfrm>
            <a:off x="502920" y="1417320"/>
            <a:ext cx="2523744" cy="1828800"/>
          </a:xfrm>
          <a:prstGeom prst="roundRect">
            <a:avLst>
              <a:gd name="adj" fmla="val 8000"/>
            </a:avLst>
          </a:prstGeom>
          <a:solidFill>
            <a:srgbClr val="FFFFFF"/>
          </a:solidFill>
          <a:ln w="6350">
            <a:solidFill>
              <a:srgbClr val="EBEBEB"/>
            </a:solidFill>
            <a:prstDash val="solid"/>
          </a:ln>
          <a:effectLst>
            <a:outerShdw blurRad="177800" dist="38100" dir="5400000" algn="bl" rotWithShape="0">
              <a:srgbClr val="000000">
                <a:alpha val="12000"/>
              </a:srgbClr>
            </a:outerShdw>
          </a:effectLst>
        </p:spPr>
      </p:sp>
      <p:pic>
        <p:nvPicPr>
          <p:cNvPr id="7" name="Image 1" descr="/home/thomas/milano-evolution/pitch/assets/icon-taxcode.png"/>
          <p:cNvPicPr>
            <a:picLocks noChangeAspect="1"/>
          </p:cNvPicPr>
          <p:nvPr/>
        </p:nvPicPr>
        <p:blipFill>
          <a:blip r:embed="rId4"/>
          <a:stretch>
            <a:fillRect/>
          </a:stretch>
        </p:blipFill>
        <p:spPr>
          <a:xfrm>
            <a:off x="987552" y="1554480"/>
            <a:ext cx="1554480" cy="1554480"/>
          </a:xfrm>
          <a:prstGeom prst="rect">
            <a:avLst/>
          </a:prstGeom>
        </p:spPr>
      </p:pic>
      <p:sp>
        <p:nvSpPr>
          <p:cNvPr id="8" name="Text 4"/>
          <p:cNvSpPr/>
          <p:nvPr/>
        </p:nvSpPr>
        <p:spPr>
          <a:xfrm>
            <a:off x="630936" y="1545336"/>
            <a:ext cx="868680" cy="256032"/>
          </a:xfrm>
          <a:prstGeom prst="roundRect">
            <a:avLst>
              <a:gd name="adj" fmla="val 71429"/>
            </a:avLst>
          </a:prstGeom>
          <a:solidFill>
            <a:srgbClr val="FFFFFF"/>
          </a:solidFill>
          <a:ln w="6350">
            <a:solidFill>
              <a:srgbClr val="EBEBEB"/>
            </a:solidFill>
          </a:ln>
          <a:effectLst>
            <a:outerShdw blurRad="177800" dist="38100" dir="5400000" algn="bl" rotWithShape="0">
              <a:srgbClr val="000000">
                <a:alpha val="12000"/>
              </a:srgbClr>
            </a:outerShdw>
          </a:effectLst>
        </p:spPr>
        <p:txBody>
          <a:bodyPr wrap="square" lIns="0" tIns="0" rIns="0" bIns="0" rtlCol="0" anchor="ctr"/>
          <a:lstStyle/>
          <a:p>
            <a:pPr marL="0" indent="0" algn="ctr">
              <a:buNone/>
            </a:pPr>
            <a:r>
              <a:rPr lang="en-US" sz="850" dirty="0">
                <a:solidFill>
                  <a:srgbClr val="222222"/>
                </a:solidFill>
                <a:latin typeface="Inter SemiBold" pitchFamily="34" charset="0"/>
                <a:ea typeface="Inter SemiBold" pitchFamily="34" charset="-122"/>
                <a:cs typeface="Inter SemiBold" pitchFamily="34" charset="-120"/>
              </a:rPr>
              <a:t>anteprima</a:t>
            </a:r>
            <a:endParaRPr lang="en-US" sz="850" dirty="0"/>
          </a:p>
        </p:txBody>
      </p:sp>
      <p:sp>
        <p:nvSpPr>
          <p:cNvPr id="9" name="Text 5"/>
          <p:cNvSpPr/>
          <p:nvPr/>
        </p:nvSpPr>
        <p:spPr>
          <a:xfrm>
            <a:off x="502920" y="3401568"/>
            <a:ext cx="2523744" cy="274320"/>
          </a:xfrm>
          <a:prstGeom prst="rect">
            <a:avLst/>
          </a:prstGeom>
          <a:noFill/>
          <a:ln/>
        </p:spPr>
        <p:txBody>
          <a:bodyPr wrap="square" lIns="0" tIns="0" rIns="0" bIns="0" rtlCol="0" anchor="ctr"/>
          <a:lstStyle/>
          <a:p>
            <a:pPr marL="0" indent="0">
              <a:buNone/>
            </a:pPr>
            <a:r>
              <a:rPr lang="en-US" sz="1350" dirty="0">
                <a:solidFill>
                  <a:srgbClr val="222222"/>
                </a:solidFill>
                <a:latin typeface="Inter SemiBold" pitchFamily="34" charset="0"/>
                <a:ea typeface="Inter SemiBold" pitchFamily="34" charset="-122"/>
                <a:cs typeface="Inter SemiBold" pitchFamily="34" charset="-120"/>
              </a:rPr>
              <a:t>Fascicolo con SPID</a:t>
            </a:r>
            <a:endParaRPr lang="en-US" sz="1350" dirty="0"/>
          </a:p>
        </p:txBody>
      </p:sp>
      <p:sp>
        <p:nvSpPr>
          <p:cNvPr id="10" name="Text 6"/>
          <p:cNvSpPr/>
          <p:nvPr/>
        </p:nvSpPr>
        <p:spPr>
          <a:xfrm>
            <a:off x="502920" y="3694176"/>
            <a:ext cx="2468880" cy="548640"/>
          </a:xfrm>
          <a:prstGeom prst="rect">
            <a:avLst/>
          </a:prstGeom>
          <a:noFill/>
          <a:ln/>
        </p:spPr>
        <p:txBody>
          <a:bodyPr wrap="square" lIns="0" tIns="0" rIns="0" bIns="0" rtlCol="0" anchor="t"/>
          <a:lstStyle/>
          <a:p>
            <a:pPr marL="0" indent="0">
              <a:buNone/>
            </a:pPr>
            <a:r>
              <a:rPr lang="en-US" sz="1050" dirty="0">
                <a:solidFill>
                  <a:srgbClr val="6A6A6A"/>
                </a:solidFill>
                <a:latin typeface="Inter" pitchFamily="34" charset="0"/>
                <a:ea typeface="Inter" pitchFamily="34" charset="-122"/>
                <a:cs typeface="Inter" pitchFamily="34" charset="-120"/>
              </a:rPr>
              <a:t>Con lo SPID il profilo passa al Fascicolo, una volta sola.</a:t>
            </a:r>
            <a:endParaRPr lang="en-US" sz="1050" dirty="0"/>
          </a:p>
        </p:txBody>
      </p:sp>
      <p:sp>
        <p:nvSpPr>
          <p:cNvPr id="11" name="Shape 7"/>
          <p:cNvSpPr/>
          <p:nvPr/>
        </p:nvSpPr>
        <p:spPr>
          <a:xfrm>
            <a:off x="3310128" y="1417320"/>
            <a:ext cx="2523744" cy="1828800"/>
          </a:xfrm>
          <a:prstGeom prst="roundRect">
            <a:avLst>
              <a:gd name="adj" fmla="val 8000"/>
            </a:avLst>
          </a:prstGeom>
          <a:solidFill>
            <a:srgbClr val="FFFFFF"/>
          </a:solidFill>
          <a:ln w="6350">
            <a:solidFill>
              <a:srgbClr val="EBEBEB"/>
            </a:solidFill>
            <a:prstDash val="solid"/>
          </a:ln>
          <a:effectLst>
            <a:outerShdw blurRad="177800" dist="38100" dir="5400000" algn="bl" rotWithShape="0">
              <a:srgbClr val="000000">
                <a:alpha val="12000"/>
              </a:srgbClr>
            </a:outerShdw>
          </a:effectLst>
        </p:spPr>
      </p:sp>
      <p:pic>
        <p:nvPicPr>
          <p:cNvPr id="12" name="Image 2" descr="/home/thomas/milano-evolution/pitch/assets/icon-italian.png"/>
          <p:cNvPicPr>
            <a:picLocks noChangeAspect="1"/>
          </p:cNvPicPr>
          <p:nvPr/>
        </p:nvPicPr>
        <p:blipFill>
          <a:blip r:embed="rId5"/>
          <a:stretch>
            <a:fillRect/>
          </a:stretch>
        </p:blipFill>
        <p:spPr>
          <a:xfrm>
            <a:off x="3794760" y="1554480"/>
            <a:ext cx="1554480" cy="1554480"/>
          </a:xfrm>
          <a:prstGeom prst="rect">
            <a:avLst/>
          </a:prstGeom>
        </p:spPr>
      </p:pic>
      <p:sp>
        <p:nvSpPr>
          <p:cNvPr id="13" name="Text 8"/>
          <p:cNvSpPr/>
          <p:nvPr/>
        </p:nvSpPr>
        <p:spPr>
          <a:xfrm>
            <a:off x="3438144" y="1545336"/>
            <a:ext cx="868680" cy="256032"/>
          </a:xfrm>
          <a:prstGeom prst="roundRect">
            <a:avLst>
              <a:gd name="adj" fmla="val 71429"/>
            </a:avLst>
          </a:prstGeom>
          <a:solidFill>
            <a:srgbClr val="FFFFFF"/>
          </a:solidFill>
          <a:ln w="6350">
            <a:solidFill>
              <a:srgbClr val="EBEBEB"/>
            </a:solidFill>
          </a:ln>
          <a:effectLst>
            <a:outerShdw blurRad="177800" dist="38100" dir="5400000" algn="bl" rotWithShape="0">
              <a:srgbClr val="000000">
                <a:alpha val="12000"/>
              </a:srgbClr>
            </a:outerShdw>
          </a:effectLst>
        </p:spPr>
        <p:txBody>
          <a:bodyPr wrap="square" lIns="0" tIns="0" rIns="0" bIns="0" rtlCol="0" anchor="ctr"/>
          <a:lstStyle/>
          <a:p>
            <a:pPr marL="0" indent="0" algn="ctr">
              <a:buNone/>
            </a:pPr>
            <a:r>
              <a:rPr lang="en-US" sz="850" dirty="0">
                <a:solidFill>
                  <a:srgbClr val="222222"/>
                </a:solidFill>
                <a:latin typeface="Inter SemiBold" pitchFamily="34" charset="0"/>
                <a:ea typeface="Inter SemiBold" pitchFamily="34" charset="-122"/>
                <a:cs typeface="Inter SemiBold" pitchFamily="34" charset="-120"/>
              </a:rPr>
              <a:t>anteprima</a:t>
            </a:r>
            <a:endParaRPr lang="en-US" sz="850" dirty="0"/>
          </a:p>
        </p:txBody>
      </p:sp>
      <p:sp>
        <p:nvSpPr>
          <p:cNvPr id="14" name="Text 9"/>
          <p:cNvSpPr/>
          <p:nvPr/>
        </p:nvSpPr>
        <p:spPr>
          <a:xfrm>
            <a:off x="3310128" y="3401568"/>
            <a:ext cx="2523744" cy="274320"/>
          </a:xfrm>
          <a:prstGeom prst="rect">
            <a:avLst/>
          </a:prstGeom>
          <a:noFill/>
          <a:ln/>
        </p:spPr>
        <p:txBody>
          <a:bodyPr wrap="square" lIns="0" tIns="0" rIns="0" bIns="0" rtlCol="0" anchor="ctr"/>
          <a:lstStyle/>
          <a:p>
            <a:pPr marL="0" indent="0">
              <a:buNone/>
            </a:pPr>
            <a:r>
              <a:rPr lang="en-US" sz="1350" dirty="0">
                <a:solidFill>
                  <a:srgbClr val="222222"/>
                </a:solidFill>
                <a:latin typeface="Inter SemiBold" pitchFamily="34" charset="0"/>
                <a:ea typeface="Inter SemiBold" pitchFamily="34" charset="-122"/>
                <a:cs typeface="Inter SemiBold" pitchFamily="34" charset="-120"/>
              </a:rPr>
              <a:t>Parlami in italiano</a:t>
            </a:r>
            <a:endParaRPr lang="en-US" sz="1350" dirty="0"/>
          </a:p>
        </p:txBody>
      </p:sp>
      <p:sp>
        <p:nvSpPr>
          <p:cNvPr id="15" name="Text 10"/>
          <p:cNvSpPr/>
          <p:nvPr/>
        </p:nvSpPr>
        <p:spPr>
          <a:xfrm>
            <a:off x="3310128" y="3694176"/>
            <a:ext cx="2468880" cy="548640"/>
          </a:xfrm>
          <a:prstGeom prst="rect">
            <a:avLst/>
          </a:prstGeom>
          <a:noFill/>
          <a:ln/>
        </p:spPr>
        <p:txBody>
          <a:bodyPr wrap="square" lIns="0" tIns="0" rIns="0" bIns="0" rtlCol="0" anchor="t"/>
          <a:lstStyle/>
          <a:p>
            <a:pPr marL="0" indent="0">
              <a:buNone/>
            </a:pPr>
            <a:r>
              <a:rPr lang="en-US" sz="1050" dirty="0">
                <a:solidFill>
                  <a:srgbClr val="6A6A6A"/>
                </a:solidFill>
                <a:latin typeface="Inter" pitchFamily="34" charset="0"/>
                <a:ea typeface="Inter" pitchFamily="34" charset="-122"/>
                <a:cs typeface="Inter" pitchFamily="34" charset="-120"/>
              </a:rPr>
              <a:t>Caffè con milanesi volontari. In Catalogna </a:t>
            </a:r>
            <a:r>
              <a:rPr lang="en-US" sz="1050" dirty="0">
                <a:solidFill>
                  <a:srgbClr val="A50D26"/>
                </a:solidFill>
                <a:latin typeface="Inter SemiBold" pitchFamily="34" charset="0"/>
                <a:ea typeface="Inter SemiBold" pitchFamily="34" charset="-122"/>
                <a:cs typeface="Inter SemiBold" pitchFamily="34" charset="-120"/>
              </a:rPr>
              <a:t>oltre 170.000 coppie</a:t>
            </a:r>
            <a:r>
              <a:rPr lang="en-US" sz="1050" dirty="0">
                <a:solidFill>
                  <a:srgbClr val="6A6A6A"/>
                </a:solidFill>
                <a:latin typeface="Inter" pitchFamily="34" charset="0"/>
                <a:ea typeface="Inter" pitchFamily="34" charset="-122"/>
                <a:cs typeface="Inter" pitchFamily="34" charset="-120"/>
              </a:rPr>
              <a:t>.</a:t>
            </a:r>
            <a:endParaRPr lang="en-US" sz="1050" dirty="0"/>
          </a:p>
        </p:txBody>
      </p:sp>
      <p:sp>
        <p:nvSpPr>
          <p:cNvPr id="16" name="Shape 11"/>
          <p:cNvSpPr/>
          <p:nvPr/>
        </p:nvSpPr>
        <p:spPr>
          <a:xfrm>
            <a:off x="6117336" y="1417320"/>
            <a:ext cx="2523744" cy="1828800"/>
          </a:xfrm>
          <a:prstGeom prst="roundRect">
            <a:avLst>
              <a:gd name="adj" fmla="val 8000"/>
            </a:avLst>
          </a:prstGeom>
          <a:solidFill>
            <a:srgbClr val="FFFFFF"/>
          </a:solidFill>
          <a:ln w="6350">
            <a:solidFill>
              <a:srgbClr val="EBEBEB"/>
            </a:solidFill>
            <a:prstDash val="solid"/>
          </a:ln>
          <a:effectLst>
            <a:outerShdw blurRad="177800" dist="38100" dir="5400000" algn="bl" rotWithShape="0">
              <a:srgbClr val="000000">
                <a:alpha val="12000"/>
              </a:srgbClr>
            </a:outerShdw>
          </a:effectLst>
        </p:spPr>
      </p:sp>
      <p:pic>
        <p:nvPicPr>
          <p:cNvPr id="17" name="Image 3" descr="/home/thomas/milano-evolution/pitch/assets/icon-study.png"/>
          <p:cNvPicPr>
            <a:picLocks noChangeAspect="1"/>
          </p:cNvPicPr>
          <p:nvPr/>
        </p:nvPicPr>
        <p:blipFill>
          <a:blip r:embed="rId6"/>
          <a:stretch>
            <a:fillRect/>
          </a:stretch>
        </p:blipFill>
        <p:spPr>
          <a:xfrm>
            <a:off x="6601968" y="1554480"/>
            <a:ext cx="1554480" cy="1554480"/>
          </a:xfrm>
          <a:prstGeom prst="rect">
            <a:avLst/>
          </a:prstGeom>
        </p:spPr>
      </p:pic>
      <p:sp>
        <p:nvSpPr>
          <p:cNvPr id="18" name="Text 12"/>
          <p:cNvSpPr/>
          <p:nvPr/>
        </p:nvSpPr>
        <p:spPr>
          <a:xfrm>
            <a:off x="6245352" y="1545336"/>
            <a:ext cx="868680" cy="256032"/>
          </a:xfrm>
          <a:prstGeom prst="roundRect">
            <a:avLst>
              <a:gd name="adj" fmla="val 71429"/>
            </a:avLst>
          </a:prstGeom>
          <a:solidFill>
            <a:srgbClr val="FFFFFF"/>
          </a:solidFill>
          <a:ln w="6350">
            <a:solidFill>
              <a:srgbClr val="EBEBEB"/>
            </a:solidFill>
          </a:ln>
          <a:effectLst>
            <a:outerShdw blurRad="177800" dist="38100" dir="5400000" algn="bl" rotWithShape="0">
              <a:srgbClr val="000000">
                <a:alpha val="12000"/>
              </a:srgbClr>
            </a:outerShdw>
          </a:effectLst>
        </p:spPr>
        <p:txBody>
          <a:bodyPr wrap="square" lIns="0" tIns="0" rIns="0" bIns="0" rtlCol="0" anchor="ctr"/>
          <a:lstStyle/>
          <a:p>
            <a:pPr marL="0" indent="0" algn="ctr">
              <a:buNone/>
            </a:pPr>
            <a:r>
              <a:rPr lang="en-US" sz="850" dirty="0">
                <a:solidFill>
                  <a:srgbClr val="222222"/>
                </a:solidFill>
                <a:latin typeface="Inter SemiBold" pitchFamily="34" charset="0"/>
                <a:ea typeface="Inter SemiBold" pitchFamily="34" charset="-122"/>
                <a:cs typeface="Inter SemiBold" pitchFamily="34" charset="-120"/>
              </a:rPr>
              <a:t>anteprima</a:t>
            </a:r>
            <a:endParaRPr lang="en-US" sz="850" dirty="0"/>
          </a:p>
        </p:txBody>
      </p:sp>
      <p:sp>
        <p:nvSpPr>
          <p:cNvPr id="19" name="Text 13"/>
          <p:cNvSpPr/>
          <p:nvPr/>
        </p:nvSpPr>
        <p:spPr>
          <a:xfrm>
            <a:off x="6117336" y="3401568"/>
            <a:ext cx="2523744" cy="274320"/>
          </a:xfrm>
          <a:prstGeom prst="rect">
            <a:avLst/>
          </a:prstGeom>
          <a:noFill/>
          <a:ln/>
        </p:spPr>
        <p:txBody>
          <a:bodyPr wrap="square" lIns="0" tIns="0" rIns="0" bIns="0" rtlCol="0" anchor="ctr"/>
          <a:lstStyle/>
          <a:p>
            <a:pPr marL="0" indent="0">
              <a:buNone/>
            </a:pPr>
            <a:r>
              <a:rPr lang="en-US" sz="1350" dirty="0">
                <a:solidFill>
                  <a:srgbClr val="222222"/>
                </a:solidFill>
                <a:latin typeface="Inter SemiBold" pitchFamily="34" charset="0"/>
                <a:ea typeface="Inter SemiBold" pitchFamily="34" charset="-122"/>
                <a:cs typeface="Inter SemiBold" pitchFamily="34" charset="-120"/>
              </a:rPr>
              <a:t>Talent card</a:t>
            </a:r>
            <a:endParaRPr lang="en-US" sz="1350" dirty="0"/>
          </a:p>
        </p:txBody>
      </p:sp>
      <p:sp>
        <p:nvSpPr>
          <p:cNvPr id="20" name="Text 14"/>
          <p:cNvSpPr/>
          <p:nvPr/>
        </p:nvSpPr>
        <p:spPr>
          <a:xfrm>
            <a:off x="6117336" y="3694176"/>
            <a:ext cx="2468880" cy="548640"/>
          </a:xfrm>
          <a:prstGeom prst="rect">
            <a:avLst/>
          </a:prstGeom>
          <a:noFill/>
          <a:ln/>
        </p:spPr>
        <p:txBody>
          <a:bodyPr wrap="square" lIns="0" tIns="0" rIns="0" bIns="0" rtlCol="0" anchor="t"/>
          <a:lstStyle/>
          <a:p>
            <a:pPr marL="0" indent="0">
              <a:buNone/>
            </a:pPr>
            <a:r>
              <a:rPr lang="en-US" sz="1050" dirty="0">
                <a:solidFill>
                  <a:srgbClr val="6A6A6A"/>
                </a:solidFill>
                <a:latin typeface="Inter" pitchFamily="34" charset="0"/>
                <a:ea typeface="Inter" pitchFamily="34" charset="-122"/>
                <a:cs typeface="Inter" pitchFamily="34" charset="-120"/>
              </a:rPr>
              <a:t>Con il suo consenso le aziende la trovano prima della laurea.</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1041</Words>
  <Application>Microsoft Office PowerPoint</Application>
  <PresentationFormat>Presentazione su schermo (16:9)</PresentationFormat>
  <Paragraphs>87</Paragraphs>
  <Slides>5</Slides>
  <Notes>5</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5</vt:i4>
      </vt:variant>
    </vt:vector>
  </HeadingPairs>
  <TitlesOfParts>
    <vt:vector size="10" baseType="lpstr">
      <vt:lpstr>Inter</vt:lpstr>
      <vt:lpstr>Inter SemiBold</vt:lpstr>
      <vt:lpstr>Inter Medium</vt: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Milano Evolution</dc:title>
  <dc:subject>PptxGenJS Presentation</dc:subject>
  <dc:creator>PptxGenJS</dc:creator>
  <cp:lastModifiedBy>Thomas Piva</cp:lastModifiedBy>
  <cp:revision>2</cp:revision>
  <dcterms:created xsi:type="dcterms:W3CDTF">2026-10-03T12:40:08Z</dcterms:created>
  <dcterms:modified xsi:type="dcterms:W3CDTF">2026-10-03T12:40:17Z</dcterms:modified>
</cp:coreProperties>
</file>